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7589520" y="1280160"/>
            <a:ext cx="1280160" cy="45720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869680" y="1280160"/>
            <a:ext cx="1280160" cy="54864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0149840" y="1280160"/>
            <a:ext cx="1097280" cy="54864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589520" y="1737360"/>
            <a:ext cx="457200" cy="109728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869680" y="1280160"/>
            <a:ext cx="548640" cy="128016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418320" y="1828800"/>
            <a:ext cx="731520" cy="73152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789920" y="1280160"/>
            <a:ext cx="457200" cy="155448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046720" y="2560320"/>
            <a:ext cx="1371600" cy="27432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418320" y="2560320"/>
            <a:ext cx="1371600" cy="27432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406640" y="2834640"/>
            <a:ext cx="640080" cy="118872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2834640"/>
            <a:ext cx="731520" cy="100584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778240" y="2560320"/>
            <a:ext cx="640080" cy="128016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0149840" y="2834640"/>
            <a:ext cx="640080" cy="128016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789920" y="2834640"/>
            <a:ext cx="548640" cy="914399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406640" y="3840480"/>
            <a:ext cx="1371600" cy="18288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3840480"/>
            <a:ext cx="1371600" cy="27432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149840" y="3749039"/>
            <a:ext cx="1188720" cy="365761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06640" y="4023360"/>
            <a:ext cx="731520" cy="118872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138160" y="3840480"/>
            <a:ext cx="640080" cy="137160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601200" y="4114800"/>
            <a:ext cx="548640" cy="118872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0881360" y="3749039"/>
            <a:ext cx="457200" cy="1280161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138160" y="5212080"/>
            <a:ext cx="1463040" cy="9144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601200" y="5029200"/>
            <a:ext cx="1280160" cy="274320"/>
          </a:xfrm>
          <a:prstGeom prst="line">
            <a:avLst/>
          </a:prstGeom>
          <a:ln w="11430">
            <a:solidFill>
              <a:srgbClr val="2A4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520940" y="1668780"/>
            <a:ext cx="137160" cy="137160"/>
          </a:xfrm>
          <a:prstGeom prst="ellipse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01100" y="1211580"/>
            <a:ext cx="137160" cy="137160"/>
          </a:xfrm>
          <a:prstGeom prst="ellipse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81260" y="1760220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178540" y="1211580"/>
            <a:ext cx="137160" cy="137160"/>
          </a:xfrm>
          <a:prstGeom prst="ellipse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78140" y="2766060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49740" y="2491739"/>
            <a:ext cx="137160" cy="137160"/>
          </a:xfrm>
          <a:prstGeom prst="ellipse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21340" y="2766060"/>
            <a:ext cx="137160" cy="137160"/>
          </a:xfrm>
          <a:prstGeom prst="ellipse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38060" y="3954780"/>
            <a:ext cx="137160" cy="137160"/>
          </a:xfrm>
          <a:prstGeom prst="ellipse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09660" y="3771900"/>
            <a:ext cx="137160" cy="137160"/>
          </a:xfrm>
          <a:prstGeom prst="ellipse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81260" y="4046220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269980" y="3680459"/>
            <a:ext cx="137160" cy="137160"/>
          </a:xfrm>
          <a:prstGeom prst="ellipse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69580" y="5143500"/>
            <a:ext cx="137160" cy="137160"/>
          </a:xfrm>
          <a:prstGeom prst="ellipse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32620" y="5234940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812780" y="4960620"/>
            <a:ext cx="137160" cy="137160"/>
          </a:xfrm>
          <a:prstGeom prst="ellipse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2191337" cy="77724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02920" y="196596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CUSTOMER CHURN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269748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&amp; RETENTION </a:t>
            </a:r>
            <a:r>
              <a:rPr sz="4000" b="1" i="0">
                <a:solidFill>
                  <a:srgbClr val="00A8CC"/>
                </a:solidFill>
                <a:latin typeface="Segoe UI"/>
              </a:rPr>
              <a:t>ANALYTICS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611880"/>
            <a:ext cx="1005840" cy="4572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84048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B9CBDC"/>
                </a:solidFill>
                <a:latin typeface="Segoe UI"/>
              </a:rPr>
              <a:t>Turning customer behavior into retention decisions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892040"/>
            <a:ext cx="2805379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5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892040"/>
            <a:ext cx="28053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CFDEEC"/>
                </a:solidFill>
                <a:latin typeface="Segoe UI"/>
              </a:rPr>
              <a:t>Customer Retention Intelligence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54603" y="4892040"/>
            <a:ext cx="793699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5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54603" y="4892040"/>
            <a:ext cx="79369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CFDEEC"/>
                </a:solidFill>
                <a:latin typeface="Segoe UI"/>
              </a:rPr>
              <a:t>Python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94606" y="4892040"/>
            <a:ext cx="552297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5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94606" y="4892040"/>
            <a:ext cx="55229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CFDEEC"/>
                </a:solidFill>
                <a:latin typeface="Segoe UI"/>
              </a:rPr>
              <a:t>SQL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93207" y="4892040"/>
            <a:ext cx="954633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5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93207" y="4892040"/>
            <a:ext cx="95463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CFDEEC"/>
                </a:solidFill>
                <a:latin typeface="Segoe UI"/>
              </a:rPr>
              <a:t>Power BI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94145" y="4892040"/>
            <a:ext cx="2885846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5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94145" y="4892040"/>
            <a:ext cx="288584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CFDEEC"/>
                </a:solidFill>
                <a:latin typeface="Segoe UI"/>
              </a:rPr>
              <a:t>Data Analytics Portfolio Project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172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E93A8"/>
                </a:solidFill>
                <a:latin typeface="Segoe UI"/>
              </a:rPr>
              <a:t>5,630 customer records  ·  E-commerce  ·  20 attributes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09" y="274320"/>
            <a:ext cx="1495265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8FAD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2A47"/>
                </a:solidFill>
                <a:latin typeface="Segoe UI"/>
              </a:rPr>
              <a:t>Churn is concentrated in specific lifecycle and experience segments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777240" cy="4572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8A97A8"/>
                </a:solidFill>
                <a:latin typeface="Segoe UI"/>
              </a:rPr>
              <a:t>Source: Customer Churn &amp; Retention Analytics | Python + MySQL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5105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8A97A8"/>
                </a:solidFill>
                <a:latin typeface="Segoe UI"/>
              </a:rPr>
              <a:t>CHURNLENS  ·  </a:t>
            </a:r>
            <a:r>
              <a:rPr sz="800" b="1" i="0">
                <a:solidFill>
                  <a:srgbClr val="008FAD"/>
                </a:solidFill>
                <a:latin typeface="Segoe U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105497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50292" cy="77724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27048"/>
            <a:ext cx="183117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A97A8"/>
                </a:solidFill>
                <a:latin typeface="Segoe UI"/>
              </a:rPr>
              <a:t>TOTAL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46504"/>
            <a:ext cx="183117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E2A47"/>
                </a:solidFill>
                <a:latin typeface="Segoe UI"/>
              </a:rPr>
              <a:t>5,630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3009" y="1417320"/>
            <a:ext cx="2105497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73009" y="1508760"/>
            <a:ext cx="50292" cy="777240"/>
          </a:xfrm>
          <a:prstGeom prst="rect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5889" y="1527048"/>
            <a:ext cx="183117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A97A8"/>
                </a:solidFill>
                <a:latin typeface="Segoe UI"/>
              </a:rPr>
              <a:t>CHURNED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5889" y="1746504"/>
            <a:ext cx="183117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6493A"/>
                </a:solidFill>
                <a:latin typeface="Segoe UI"/>
              </a:rPr>
              <a:t>948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3098" y="1417320"/>
            <a:ext cx="2105497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43098" y="1508760"/>
            <a:ext cx="50292" cy="777240"/>
          </a:xfrm>
          <a:prstGeom prst="rect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5978" y="1527048"/>
            <a:ext cx="183117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A97A8"/>
                </a:solidFill>
                <a:latin typeface="Segoe UI"/>
              </a:rPr>
              <a:t>CHURN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5978" y="1746504"/>
            <a:ext cx="183117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6493A"/>
                </a:solidFill>
                <a:latin typeface="Segoe UI"/>
              </a:rPr>
              <a:t>16.84%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3188" y="1417320"/>
            <a:ext cx="2105497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3188" y="1508760"/>
            <a:ext cx="50292" cy="777240"/>
          </a:xfrm>
          <a:prstGeom prst="rect">
            <a:avLst/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6068" y="1527048"/>
            <a:ext cx="183117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A97A8"/>
                </a:solidFill>
                <a:latin typeface="Segoe UI"/>
              </a:rPr>
              <a:t>VALUE W/ CHURN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6068" y="1746504"/>
            <a:ext cx="183117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C5CBF"/>
                </a:solidFill>
                <a:latin typeface="Segoe UI"/>
              </a:rPr>
              <a:t>₹152.03K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6068" y="2103120"/>
            <a:ext cx="183117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Segoe UI"/>
              </a:rPr>
              <a:t>customer-value proxy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83277" y="1417320"/>
            <a:ext cx="2105497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83277" y="1508760"/>
            <a:ext cx="50292" cy="7772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6157" y="1527048"/>
            <a:ext cx="183117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A97A8"/>
                </a:solidFill>
                <a:latin typeface="Segoe UI"/>
              </a:rPr>
              <a:t>COMPLAINT CHURN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6157" y="1746504"/>
            <a:ext cx="183117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67E22"/>
                </a:solidFill>
                <a:latin typeface="Segoe UI"/>
              </a:rPr>
              <a:t>31.67%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2697480"/>
            <a:ext cx="1118585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2807208"/>
            <a:ext cx="50292" cy="621792"/>
          </a:xfrm>
          <a:prstGeom prst="rect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" y="281635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6493A"/>
                </a:solidFill>
                <a:latin typeface="Segoe UI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2728" y="2807208"/>
            <a:ext cx="35661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2A47"/>
                </a:solidFill>
                <a:latin typeface="Segoe UI"/>
              </a:rPr>
              <a:t>Early lifecycle concentrates 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59" y="2807208"/>
            <a:ext cx="652241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A5A6E"/>
                </a:solidFill>
                <a:latin typeface="Segoe UI"/>
              </a:rPr>
              <a:t>New customers (0–3m) churn at 41.86% vs &lt;10% in later stages; Loyal (25m+) is 0.00%.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630168"/>
            <a:ext cx="1118585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3739896"/>
            <a:ext cx="50292" cy="62179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" y="37490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  <a:latin typeface="Segoe UI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52728" y="3739896"/>
            <a:ext cx="35661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2A47"/>
                </a:solidFill>
                <a:latin typeface="Segoe UI"/>
              </a:rPr>
              <a:t>Complaints flag retention risk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59" y="3739896"/>
            <a:ext cx="652241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A5A6E"/>
                </a:solidFill>
                <a:latin typeface="Segoe UI"/>
              </a:rPr>
              <a:t>31.67% churn among complainers vs 10.93% without — ≈2.9× higher observed churn.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562856"/>
            <a:ext cx="1118585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4672584"/>
            <a:ext cx="50292" cy="621792"/>
          </a:xfrm>
          <a:prstGeom prst="rect">
            <a:avLst/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7C5CBF"/>
                </a:solidFill>
                <a:latin typeface="Segoe UI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52728" y="4672584"/>
            <a:ext cx="35661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2A47"/>
                </a:solidFill>
                <a:latin typeface="Segoe UI"/>
              </a:rPr>
              <a:t>Churn carries measurable value exposure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59" y="4672584"/>
            <a:ext cx="652241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A5A6E"/>
                </a:solidFill>
                <a:latin typeface="Segoe UI"/>
              </a:rPr>
              <a:t>15.24% of the total customer-value proxy (₹152.03K of ₹997.77K) is associated with churned customers.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495544"/>
            <a:ext cx="1118585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5605272"/>
            <a:ext cx="50292" cy="621792"/>
          </a:xfrm>
          <a:prstGeom prst="rect">
            <a:avLst/>
          </a:prstGeom>
          <a:solidFill>
            <a:srgbClr val="008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2376" y="561441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8FAD"/>
                </a:solidFill>
                <a:latin typeface="Segoe UI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52728" y="5605272"/>
            <a:ext cx="35661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2A47"/>
                </a:solidFill>
                <a:latin typeface="Segoe UI"/>
              </a:rPr>
              <a:t>Risk is segmentable and actionable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59" y="5605272"/>
            <a:ext cx="652241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A5A6E"/>
                </a:solidFill>
                <a:latin typeface="Segoe UI"/>
              </a:rPr>
              <a:t>Value-quartile churn falls from 25.07% (Q1) to 10.95% (Q4); RFM segments separate 15.2–17.7% risk bands.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09" y="274320"/>
            <a:ext cx="1495265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8FAD"/>
                </a:solidFill>
                <a:latin typeface="Segoe UI"/>
              </a:rPr>
              <a:t>BUSINESS PROBLEM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E2A47"/>
                </a:solidFill>
                <a:latin typeface="Segoe UI"/>
              </a:rPr>
              <a:t>From churn measurement to retention prioritization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777240" cy="4572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8A97A8"/>
                </a:solidFill>
                <a:latin typeface="Segoe UI"/>
              </a:rPr>
              <a:t>Source: Customer Churn &amp; Retention Analytics | Python + MySQL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5105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8A97A8"/>
                </a:solidFill>
                <a:latin typeface="Segoe UI"/>
              </a:rPr>
              <a:t>CHURNLENS  ·  </a:t>
            </a:r>
            <a:r>
              <a:rPr sz="800" b="1" i="0">
                <a:solidFill>
                  <a:srgbClr val="008FAD"/>
                </a:solidFill>
                <a:latin typeface="Segoe U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11185855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82296" cy="123444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72768"/>
            <a:ext cx="10545775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4A5A6E"/>
                </a:solidFill>
                <a:latin typeface="Segoe UI"/>
              </a:rPr>
              <a:t>Customer churn reduces the future value of the customer base. Management needs to know not only </a:t>
            </a:r>
            <a:r>
              <a:rPr sz="1250" b="1" i="1">
                <a:solidFill>
                  <a:srgbClr val="0E2A47"/>
                </a:solidFill>
                <a:latin typeface="Segoe UI"/>
              </a:rPr>
              <a:t>how many</a:t>
            </a:r>
            <a:r>
              <a:rPr sz="1250" b="0" i="1">
                <a:solidFill>
                  <a:srgbClr val="4A5A6E"/>
                </a:solidFill>
                <a:latin typeface="Segoe UI"/>
              </a:rPr>
              <a:t> customers churn, but </a:t>
            </a:r>
            <a:r>
              <a:rPr sz="1250" b="1" i="1">
                <a:solidFill>
                  <a:srgbClr val="0E2A47"/>
                </a:solidFill>
                <a:latin typeface="Segoe UI"/>
              </a:rPr>
              <a:t>why</a:t>
            </a:r>
            <a:r>
              <a:rPr sz="1250" b="0" i="1">
                <a:solidFill>
                  <a:srgbClr val="4A5A6E"/>
                </a:solidFill>
                <a:latin typeface="Segoe UI"/>
              </a:rPr>
              <a:t> they churn, </a:t>
            </a:r>
            <a:r>
              <a:rPr sz="1250" b="1" i="1">
                <a:solidFill>
                  <a:srgbClr val="0E2A47"/>
                </a:solidFill>
                <a:latin typeface="Segoe UI"/>
              </a:rPr>
              <a:t>who</a:t>
            </a:r>
            <a:r>
              <a:rPr sz="1250" b="0" i="1">
                <a:solidFill>
                  <a:srgbClr val="4A5A6E"/>
                </a:solidFill>
                <a:latin typeface="Segoe UI"/>
              </a:rPr>
              <a:t> is most exposed, and </a:t>
            </a:r>
            <a:r>
              <a:rPr sz="1250" b="1" i="1">
                <a:solidFill>
                  <a:srgbClr val="0E2A47"/>
                </a:solidFill>
                <a:latin typeface="Segoe UI"/>
              </a:rPr>
              <a:t>where</a:t>
            </a:r>
            <a:r>
              <a:rPr sz="1250" b="0" i="1">
                <a:solidFill>
                  <a:srgbClr val="4A5A6E"/>
                </a:solidFill>
                <a:latin typeface="Segoe UI"/>
              </a:rPr>
              <a:t> retention effort should be prioritized.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46120"/>
            <a:ext cx="2017715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10025" y="3474720"/>
            <a:ext cx="603504" cy="603504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0025" y="347472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A8CC"/>
                </a:solidFill>
                <a:latin typeface="Segoe U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4224528"/>
            <a:ext cx="18714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2A47"/>
                </a:solidFill>
                <a:latin typeface="Segoe UI"/>
              </a:rPr>
              <a:t>Quantify churn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548067" y="3913632"/>
            <a:ext cx="219456" cy="201168"/>
          </a:xfrm>
          <a:prstGeom prst="rightArrow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94955" y="3246120"/>
            <a:ext cx="2017715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02060" y="3474720"/>
            <a:ext cx="603504" cy="603504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2060" y="347472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A8CC"/>
                </a:solidFill>
                <a:latin typeface="Segoe U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8107" y="4224528"/>
            <a:ext cx="18714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2A47"/>
                </a:solidFill>
                <a:latin typeface="Segoe UI"/>
              </a:rPr>
              <a:t>Identify churn drivers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40102" y="3913632"/>
            <a:ext cx="219456" cy="201168"/>
          </a:xfrm>
          <a:prstGeom prst="rightArrow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86990" y="3246120"/>
            <a:ext cx="2017715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94095" y="3474720"/>
            <a:ext cx="603504" cy="603504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94095" y="347472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A8CC"/>
                </a:solidFill>
                <a:latin typeface="Segoe U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0142" y="4224528"/>
            <a:ext cx="18714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2A47"/>
                </a:solidFill>
                <a:latin typeface="Segoe UI"/>
              </a:rPr>
              <a:t>Segment by lifecycle &amp; value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132137" y="3913632"/>
            <a:ext cx="219456" cy="201168"/>
          </a:xfrm>
          <a:prstGeom prst="rightArrow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79025" y="3246120"/>
            <a:ext cx="2017715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86130" y="3474720"/>
            <a:ext cx="603504" cy="603504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86130" y="347472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A8CC"/>
                </a:solidFill>
                <a:latin typeface="Segoe U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177" y="4224528"/>
            <a:ext cx="18714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2A47"/>
                </a:solidFill>
                <a:latin typeface="Segoe UI"/>
              </a:rPr>
              <a:t>Quantify value exposure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424172" y="3913632"/>
            <a:ext cx="219456" cy="201168"/>
          </a:xfrm>
          <a:prstGeom prst="rightArrow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71060" y="3246120"/>
            <a:ext cx="2017715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78165" y="3474720"/>
            <a:ext cx="603504" cy="603504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78165" y="3474720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A8CC"/>
                </a:solidFill>
                <a:latin typeface="Segoe U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4212" y="4224528"/>
            <a:ext cx="18714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2A47"/>
                </a:solidFill>
                <a:latin typeface="Segoe UI"/>
              </a:rPr>
              <a:t>Prioritize retention actions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25780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08FAD"/>
                </a:solidFill>
                <a:latin typeface="Segoe UI"/>
              </a:rPr>
              <a:t>Storyline:  DATA  →  PROBLEM  →  EVIDENCE  →  RISK  →  VALUE  → 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09" y="274320"/>
            <a:ext cx="1495265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8FAD"/>
                </a:solidFill>
                <a:latin typeface="Segoe UI"/>
              </a:rPr>
              <a:t>DATASET &amp; ANALYTICAL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2A47"/>
                </a:solidFill>
                <a:latin typeface="Segoe UI"/>
              </a:rPr>
              <a:t>One customer-level dataset supports the complete retention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777240" cy="4572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8A97A8"/>
                </a:solidFill>
                <a:latin typeface="Segoe UI"/>
              </a:rPr>
              <a:t>Source: Customer Churn &amp; Retention Analytics | Python + MySQL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5105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8A97A8"/>
                </a:solidFill>
                <a:latin typeface="Segoe UI"/>
              </a:rPr>
              <a:t>CHURNLENS  ·  </a:t>
            </a:r>
            <a:r>
              <a:rPr sz="800" b="1" i="0">
                <a:solidFill>
                  <a:srgbClr val="008FAD"/>
                </a:solidFill>
                <a:latin typeface="Segoe U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46888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E2A47"/>
                </a:solidFill>
                <a:latin typeface="Segoe UI"/>
              </a:rPr>
              <a:t>5,630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7627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A5A6E"/>
                </a:solidFill>
                <a:latin typeface="Segoe UI"/>
              </a:rPr>
              <a:t>customer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8716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08FAD"/>
                </a:solidFill>
                <a:latin typeface="Segoe UI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3464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A5A6E"/>
                </a:solidFill>
                <a:latin typeface="Segoe UI"/>
              </a:rPr>
              <a:t>customer attributes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089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A97A8"/>
                </a:solidFill>
                <a:latin typeface="Segoe UI"/>
              </a:rPr>
              <a:t>e-commerce  ·  customer-level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417320"/>
            <a:ext cx="1297167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1417320"/>
            <a:ext cx="1297167" cy="384048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1417320"/>
            <a:ext cx="129716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Segoe UI"/>
              </a:rPr>
              <a:t>CUSTOMER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920240"/>
            <a:ext cx="1150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Segoe UI"/>
              </a:rPr>
              <a:t>•  Gender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167128"/>
            <a:ext cx="1150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Segoe UI"/>
              </a:rPr>
              <a:t>•  Marital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414016"/>
            <a:ext cx="1150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Segoe UI"/>
              </a:rPr>
              <a:t>•  City tier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3871" y="1417320"/>
            <a:ext cx="1297167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43871" y="1417320"/>
            <a:ext cx="1297167" cy="384048"/>
          </a:xfrm>
          <a:prstGeom prst="roundRect">
            <a:avLst>
              <a:gd name="adj" fmla="val 5000"/>
            </a:avLst>
          </a:prstGeom>
          <a:solidFill>
            <a:srgbClr val="008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3871" y="1417320"/>
            <a:ext cx="129716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Segoe UI"/>
              </a:rPr>
              <a:t>ENGAGEMENT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5311" y="1920240"/>
            <a:ext cx="1150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Segoe UI"/>
              </a:rPr>
              <a:t>•  App usage hours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5311" y="2167128"/>
            <a:ext cx="1150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Segoe UI"/>
              </a:rPr>
              <a:t>•  Devices registered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5311" y="2414016"/>
            <a:ext cx="1150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Segoe UI"/>
              </a:rPr>
              <a:t>•  Login device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5311" y="2660904"/>
            <a:ext cx="1150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Segoe UI"/>
              </a:rPr>
              <a:t>•  Order behavior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7343" y="1417320"/>
            <a:ext cx="1297167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87343" y="1417320"/>
            <a:ext cx="1297167" cy="384048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7343" y="1417320"/>
            <a:ext cx="129716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Segoe UI"/>
              </a:rPr>
              <a:t>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8783" y="1920240"/>
            <a:ext cx="1150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Segoe UI"/>
              </a:rPr>
              <a:t>•  Satisfaction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8783" y="2167128"/>
            <a:ext cx="1150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Segoe UI"/>
              </a:rPr>
              <a:t>•  Complaints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8783" y="2414016"/>
            <a:ext cx="1150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Segoe UI"/>
              </a:rPr>
              <a:t>•  Delivery distance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30815" y="1417320"/>
            <a:ext cx="1297167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530815" y="1417320"/>
            <a:ext cx="1297167" cy="384048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30815" y="1417320"/>
            <a:ext cx="129716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Segoe UI"/>
              </a:rPr>
              <a:t>LIFECYCLE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2255" y="1920240"/>
            <a:ext cx="1150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Segoe UI"/>
              </a:rPr>
              <a:t>•  Tenure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2255" y="2167128"/>
            <a:ext cx="1150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Segoe UI"/>
              </a:rPr>
              <a:t>•  Recency / days since last order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4287" y="1417320"/>
            <a:ext cx="1297167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74287" y="1417320"/>
            <a:ext cx="1297167" cy="384048"/>
          </a:xfrm>
          <a:prstGeom prst="roundRect">
            <a:avLst>
              <a:gd name="adj" fmla="val 5000"/>
            </a:avLst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4287" y="1417320"/>
            <a:ext cx="129716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Segoe UI"/>
              </a:rPr>
              <a:t>VALUE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5727" y="1920240"/>
            <a:ext cx="1150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Segoe UI"/>
              </a:rPr>
              <a:t>•  Order count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5727" y="2167128"/>
            <a:ext cx="1150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Segoe UI"/>
              </a:rPr>
              <a:t>•  Cashback amount*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5727" y="2414016"/>
            <a:ext cx="1150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Segoe UI"/>
              </a:rPr>
              <a:t>•  Order growth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10454335" y="2286000"/>
            <a:ext cx="320040" cy="274320"/>
          </a:xfrm>
          <a:prstGeom prst="rightArrow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820095" y="1783080"/>
            <a:ext cx="868680" cy="1280160"/>
          </a:xfrm>
          <a:prstGeom prst="roundRect">
            <a:avLst>
              <a:gd name="adj" fmla="val 6000"/>
            </a:avLst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20095" y="2148840"/>
            <a:ext cx="868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CHURN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20095" y="2606040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F6D7D3"/>
                </a:solidFill>
                <a:latin typeface="Segoe UI"/>
              </a:rPr>
              <a:t>outcome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3703320"/>
            <a:ext cx="1118585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3858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2A47"/>
                </a:solidFill>
                <a:latin typeface="Segoe UI"/>
              </a:rPr>
              <a:t>Analytical questions answered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" y="42245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A8CC"/>
                </a:solidFill>
                <a:latin typeface="Segoe UI"/>
              </a:rPr>
              <a:t>→  </a:t>
            </a:r>
            <a:r>
              <a:rPr sz="1000" b="0" i="0">
                <a:solidFill>
                  <a:srgbClr val="4A5A6E"/>
                </a:solidFill>
                <a:latin typeface="Segoe UI"/>
              </a:rPr>
              <a:t>How much churn exists?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2512" y="42245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A8CC"/>
                </a:solidFill>
                <a:latin typeface="Segoe UI"/>
              </a:rPr>
              <a:t>→  </a:t>
            </a:r>
            <a:r>
              <a:rPr sz="1000" b="0" i="0">
                <a:solidFill>
                  <a:srgbClr val="4A5A6E"/>
                </a:solidFill>
                <a:latin typeface="Segoe UI"/>
              </a:rPr>
              <a:t>Which lifecycle stages churn most?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952" y="46451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A8CC"/>
                </a:solidFill>
                <a:latin typeface="Segoe UI"/>
              </a:rPr>
              <a:t>→  </a:t>
            </a:r>
            <a:r>
              <a:rPr sz="1000" b="0" i="0">
                <a:solidFill>
                  <a:srgbClr val="4A5A6E"/>
                </a:solidFill>
                <a:latin typeface="Segoe UI"/>
              </a:rPr>
              <a:t>Which behaviors associate with churn?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2512" y="46451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A8CC"/>
                </a:solidFill>
                <a:latin typeface="Segoe UI"/>
              </a:rPr>
              <a:t>→  </a:t>
            </a:r>
            <a:r>
              <a:rPr sz="1000" b="0" i="0">
                <a:solidFill>
                  <a:srgbClr val="4A5A6E"/>
                </a:solidFill>
                <a:latin typeface="Segoe UI"/>
              </a:rPr>
              <a:t>How do complaints &amp; satisfaction relate to churn?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2" y="506577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A8CC"/>
                </a:solidFill>
                <a:latin typeface="Segoe UI"/>
              </a:rPr>
              <a:t>→  </a:t>
            </a:r>
            <a:r>
              <a:rPr sz="1000" b="0" i="0">
                <a:solidFill>
                  <a:srgbClr val="4A5A6E"/>
                </a:solidFill>
                <a:latin typeface="Segoe UI"/>
              </a:rPr>
              <a:t>Does churn vary by segment?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82512" y="506577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A8CC"/>
                </a:solidFill>
                <a:latin typeface="Segoe UI"/>
              </a:rPr>
              <a:t>→  </a:t>
            </a:r>
            <a:r>
              <a:rPr sz="1000" b="0" i="0">
                <a:solidFill>
                  <a:srgbClr val="4A5A6E"/>
                </a:solidFill>
                <a:latin typeface="Segoe UI"/>
              </a:rPr>
              <a:t>Which value segments are exposed?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" y="5486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A8CC"/>
                </a:solidFill>
                <a:latin typeface="Segoe UI"/>
              </a:rPr>
              <a:t>→  </a:t>
            </a:r>
            <a:r>
              <a:rPr sz="1000" b="0" i="0">
                <a:solidFill>
                  <a:srgbClr val="4A5A6E"/>
                </a:solidFill>
                <a:latin typeface="Segoe UI"/>
              </a:rPr>
              <a:t>Where should retention start?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5742432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8A97A8"/>
                </a:solidFill>
                <a:latin typeface="Segoe UI"/>
              </a:rPr>
              <a:t>*CashbackAmount is used as a customer-value proxy — not actual company 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09" y="274320"/>
            <a:ext cx="1495265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8FAD"/>
                </a:solidFill>
                <a:latin typeface="Segoe UI"/>
              </a:rPr>
              <a:t>DATA QUALITY &amp;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E2A47"/>
                </a:solidFill>
                <a:latin typeface="Segoe UI"/>
              </a:rPr>
              <a:t>Data quality was addressed before business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777240" cy="4572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8A97A8"/>
                </a:solidFill>
                <a:latin typeface="Segoe UI"/>
              </a:rPr>
              <a:t>Source: Customer Churn &amp; Retention Analytics | Python + MySQL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5105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8A97A8"/>
                </a:solidFill>
                <a:latin typeface="Segoe UI"/>
              </a:rPr>
              <a:t>CHURNLENS  ·  </a:t>
            </a:r>
            <a:r>
              <a:rPr sz="800" b="1" i="0">
                <a:solidFill>
                  <a:srgbClr val="008FAD"/>
                </a:solidFill>
                <a:latin typeface="Segoe U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1394198" cy="77724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481328"/>
            <a:ext cx="132104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Segoe UI"/>
              </a:rPr>
              <a:t>RAW DATA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15406" y="1755648"/>
            <a:ext cx="201168" cy="182880"/>
          </a:xfrm>
          <a:prstGeom prst="rightArrow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34862" y="1481328"/>
            <a:ext cx="139419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71438" y="1481328"/>
            <a:ext cx="132104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0E2A47"/>
                </a:solidFill>
                <a:latin typeface="Segoe UI"/>
              </a:rPr>
              <a:t>QUALITY CHECK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47349" y="1755648"/>
            <a:ext cx="201168" cy="182880"/>
          </a:xfrm>
          <a:prstGeom prst="rightArrow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66805" y="1481328"/>
            <a:ext cx="139419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3381" y="1481328"/>
            <a:ext cx="132104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0E2A47"/>
                </a:solidFill>
                <a:latin typeface="Segoe UI"/>
              </a:rPr>
              <a:t>DUPLICATE CHECK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79292" y="1755648"/>
            <a:ext cx="201168" cy="182880"/>
          </a:xfrm>
          <a:prstGeom prst="rightArrow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98748" y="1481328"/>
            <a:ext cx="139419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5324" y="1481328"/>
            <a:ext cx="132104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0E2A47"/>
                </a:solidFill>
                <a:latin typeface="Segoe UI"/>
              </a:rPr>
              <a:t>MISSING VALUE TREATMENT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811234" y="1755648"/>
            <a:ext cx="201168" cy="182880"/>
          </a:xfrm>
          <a:prstGeom prst="rightArrow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30690" y="1481328"/>
            <a:ext cx="139419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7266" y="1481328"/>
            <a:ext cx="132104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0E2A47"/>
                </a:solidFill>
                <a:latin typeface="Segoe UI"/>
              </a:rPr>
              <a:t>TYPE / CATEGORY STANDARDIZATION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443177" y="1755648"/>
            <a:ext cx="201168" cy="182880"/>
          </a:xfrm>
          <a:prstGeom prst="rightArrow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62633" y="1481328"/>
            <a:ext cx="139419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99209" y="1481328"/>
            <a:ext cx="132104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0E2A47"/>
                </a:solidFill>
                <a:latin typeface="Segoe UI"/>
              </a:rPr>
              <a:t>VALIDATION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075120" y="1755648"/>
            <a:ext cx="201168" cy="182880"/>
          </a:xfrm>
          <a:prstGeom prst="rightArrow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94576" y="1481328"/>
            <a:ext cx="1394198" cy="77724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1152" y="1481328"/>
            <a:ext cx="132104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Segoe UI"/>
              </a:rPr>
              <a:t>CLEAN ANALYTICAL DATASET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560320"/>
            <a:ext cx="59893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2651760"/>
            <a:ext cx="5660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Segoe UI"/>
              </a:rPr>
              <a:t>Missing values treated (count per column)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2980944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DaySinceLastOrder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66544" y="2999232"/>
            <a:ext cx="3712463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066544" y="2999232"/>
            <a:ext cx="3352136" cy="146304"/>
          </a:xfrm>
          <a:prstGeom prst="rect">
            <a:avLst/>
          </a:prstGeom>
          <a:solidFill>
            <a:srgbClr val="008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3872" y="298094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307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" y="3300984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OrderAmountHike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66544" y="3319272"/>
            <a:ext cx="3712463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66544" y="3319272"/>
            <a:ext cx="2893538" cy="146304"/>
          </a:xfrm>
          <a:prstGeom prst="rect">
            <a:avLst/>
          </a:prstGeom>
          <a:solidFill>
            <a:srgbClr val="008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33872" y="330098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265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" y="3621024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Tenure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66544" y="3639312"/>
            <a:ext cx="3712463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066544" y="3639312"/>
            <a:ext cx="2882619" cy="146304"/>
          </a:xfrm>
          <a:prstGeom prst="rect">
            <a:avLst/>
          </a:prstGeom>
          <a:solidFill>
            <a:srgbClr val="008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33872" y="362102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264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" y="3941063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OrderCount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66544" y="3959351"/>
            <a:ext cx="3712463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66544" y="3959351"/>
            <a:ext cx="2817105" cy="146304"/>
          </a:xfrm>
          <a:prstGeom prst="rect">
            <a:avLst/>
          </a:prstGeom>
          <a:solidFill>
            <a:srgbClr val="008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33872" y="3941063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258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" y="4261104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CouponUsed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66544" y="4279392"/>
            <a:ext cx="3712463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066544" y="4279392"/>
            <a:ext cx="2795267" cy="146304"/>
          </a:xfrm>
          <a:prstGeom prst="rect">
            <a:avLst/>
          </a:prstGeom>
          <a:solidFill>
            <a:srgbClr val="008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33872" y="426110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256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4581144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HourSpendOnApp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66544" y="4599431"/>
            <a:ext cx="3712463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066544" y="4599431"/>
            <a:ext cx="2784348" cy="146304"/>
          </a:xfrm>
          <a:prstGeom prst="rect">
            <a:avLst/>
          </a:prstGeom>
          <a:solidFill>
            <a:srgbClr val="008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33872" y="458114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255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" y="4901183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WarehouseToHome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66544" y="4919471"/>
            <a:ext cx="3712463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066544" y="4919471"/>
            <a:ext cx="2740671" cy="146304"/>
          </a:xfrm>
          <a:prstGeom prst="rect">
            <a:avLst/>
          </a:prstGeom>
          <a:solidFill>
            <a:srgbClr val="008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33872" y="4901183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251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720840" y="2560320"/>
            <a:ext cx="4967935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03720" y="2697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2A47"/>
                </a:solidFill>
                <a:latin typeface="Segoe UI"/>
              </a:rPr>
              <a:t>Quality controls applied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30632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Segoe UI"/>
              </a:rPr>
              <a:t>✓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Null-value profiling per column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3720" y="33924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Segoe UI"/>
              </a:rPr>
              <a:t>✓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Duplicate CustomerID detection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03720" y="37216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Segoe UI"/>
              </a:rPr>
              <a:t>✓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Exact duplicate record detection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3720" y="405079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Segoe UI"/>
              </a:rPr>
              <a:t>✓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Numeric range validation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03720" y="43799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Segoe UI"/>
              </a:rPr>
              <a:t>✓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Categorical consistency checks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03720" y="47091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Segoe UI"/>
              </a:rPr>
              <a:t>✓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Final row-count validation → 5,630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903720" y="4956048"/>
            <a:ext cx="868680" cy="292608"/>
          </a:xfrm>
          <a:prstGeom prst="roundRect">
            <a:avLst>
              <a:gd name="adj" fmla="val 35000"/>
            </a:avLst>
          </a:prstGeom>
          <a:solidFill>
            <a:srgbClr val="E8F6FA"/>
          </a:solidFill>
          <a:ln w="1016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03720" y="4956048"/>
            <a:ext cx="868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08FAD"/>
                </a:solidFill>
                <a:latin typeface="Segoe UI"/>
              </a:rPr>
              <a:t>Python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863840" y="4956048"/>
            <a:ext cx="685800" cy="292608"/>
          </a:xfrm>
          <a:prstGeom prst="roundRect">
            <a:avLst>
              <a:gd name="adj" fmla="val 35000"/>
            </a:avLst>
          </a:prstGeom>
          <a:solidFill>
            <a:srgbClr val="EFE9F9"/>
          </a:solidFill>
          <a:ln w="10160">
            <a:solidFill>
              <a:srgbClr val="7C5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863840" y="4956048"/>
            <a:ext cx="685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7C5CBF"/>
                </a:solidFill>
                <a:latin typeface="Segoe UI"/>
              </a:rPr>
              <a:t>SQL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56235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8A97A8"/>
                </a:solidFill>
                <a:latin typeface="Segoe UI"/>
              </a:rPr>
              <a:t>Imputation: median-based fill for OrderCount &amp; DaySinceLastOrder (per SQL cleaning log).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09" y="274320"/>
            <a:ext cx="1495265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8FAD"/>
                </a:solidFill>
                <a:latin typeface="Segoe UI"/>
              </a:rPr>
              <a:t>ANALYTICAL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Segoe UI"/>
              </a:rPr>
              <a:t>End-to-end analytics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777240" cy="4572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8A97A8"/>
                </a:solidFill>
                <a:latin typeface="Segoe UI"/>
              </a:rPr>
              <a:t>Source: Customer Churn &amp; Retention Analytics | Python + MySQL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5105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8A97A8"/>
                </a:solidFill>
                <a:latin typeface="Segoe UI"/>
              </a:rPr>
              <a:t>CHURNLENS  ·  </a:t>
            </a:r>
            <a:r>
              <a:rPr sz="800" b="1" i="0">
                <a:solidFill>
                  <a:srgbClr val="008FAD"/>
                </a:solidFill>
                <a:latin typeface="Segoe U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1112824" cy="96012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600200"/>
            <a:ext cx="1057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Raw Excel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20316" y="1947672"/>
            <a:ext cx="137160" cy="164592"/>
          </a:xfrm>
          <a:prstGeom prst="right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048" y="1600200"/>
            <a:ext cx="111282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9480" y="1600200"/>
            <a:ext cx="1057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008FAD"/>
                </a:solidFill>
                <a:latin typeface="Segoe UI"/>
              </a:rPr>
              <a:t>Python / Pandas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79445" y="1947672"/>
            <a:ext cx="137160" cy="164592"/>
          </a:xfrm>
          <a:prstGeom prst="right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21177" y="1600200"/>
            <a:ext cx="111282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8609" y="1600200"/>
            <a:ext cx="1057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008FAD"/>
                </a:solidFill>
                <a:latin typeface="Segoe UI"/>
              </a:rPr>
              <a:t>Data Cleaning &amp; EDA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38574" y="1947672"/>
            <a:ext cx="137160" cy="164592"/>
          </a:xfrm>
          <a:prstGeom prst="right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80306" y="1600200"/>
            <a:ext cx="1112824" cy="96012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7738" y="1600200"/>
            <a:ext cx="1057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MySQL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397703" y="1947672"/>
            <a:ext cx="137160" cy="164592"/>
          </a:xfrm>
          <a:prstGeom prst="right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539435" y="1600200"/>
            <a:ext cx="111282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66867" y="1600200"/>
            <a:ext cx="1057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008FAD"/>
                </a:solidFill>
                <a:latin typeface="Segoe UI"/>
              </a:rPr>
              <a:t>Business SQL Analysis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656832" y="1947672"/>
            <a:ext cx="137160" cy="164592"/>
          </a:xfrm>
          <a:prstGeom prst="right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98564" y="1600200"/>
            <a:ext cx="111282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5996" y="1600200"/>
            <a:ext cx="1057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008FAD"/>
                </a:solidFill>
                <a:latin typeface="Segoe UI"/>
              </a:rPr>
              <a:t>Customer Segmentation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915960" y="1947672"/>
            <a:ext cx="137160" cy="164592"/>
          </a:xfrm>
          <a:prstGeom prst="right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57692" y="1600200"/>
            <a:ext cx="111282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B7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5124" y="1600200"/>
            <a:ext cx="1057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1B7F9E"/>
                </a:solidFill>
                <a:latin typeface="Segoe UI"/>
              </a:rPr>
              <a:t>Power BI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175089" y="1947672"/>
            <a:ext cx="137160" cy="164592"/>
          </a:xfrm>
          <a:prstGeom prst="right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16821" y="1600200"/>
            <a:ext cx="111282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4253" y="1600200"/>
            <a:ext cx="1057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27AE60"/>
                </a:solidFill>
                <a:latin typeface="Segoe UI"/>
              </a:rPr>
              <a:t>Executive Insights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434218" y="1947672"/>
            <a:ext cx="137160" cy="164592"/>
          </a:xfrm>
          <a:prstGeom prst="right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575950" y="1600200"/>
            <a:ext cx="111282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03382" y="1600200"/>
            <a:ext cx="1057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27AE60"/>
                </a:solidFill>
                <a:latin typeface="Segoe UI"/>
              </a:rPr>
              <a:t>Retention Recommendations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017520"/>
            <a:ext cx="11185855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1729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2A47"/>
                </a:solidFill>
                <a:latin typeface="Segoe UI"/>
              </a:rPr>
              <a:t>Toolbox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952" y="3611880"/>
            <a:ext cx="740664" cy="329184"/>
          </a:xfrm>
          <a:prstGeom prst="roundRect">
            <a:avLst>
              <a:gd name="adj" fmla="val 35000"/>
            </a:avLst>
          </a:prstGeom>
          <a:solidFill>
            <a:srgbClr val="E8F6FA"/>
          </a:solidFill>
          <a:ln w="1016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" y="3611880"/>
            <a:ext cx="7406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08FAD"/>
                </a:solidFill>
                <a:latin typeface="Segoe UI"/>
              </a:rPr>
              <a:t>Python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27632" y="3611880"/>
            <a:ext cx="740664" cy="329184"/>
          </a:xfrm>
          <a:prstGeom prst="roundRect">
            <a:avLst>
              <a:gd name="adj" fmla="val 35000"/>
            </a:avLst>
          </a:prstGeom>
          <a:solidFill>
            <a:srgbClr val="E8F6FA"/>
          </a:solidFill>
          <a:ln w="1016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27632" y="3611880"/>
            <a:ext cx="7406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08FAD"/>
                </a:solidFill>
                <a:latin typeface="Segoe UI"/>
              </a:rPr>
              <a:t>Pandas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96312" y="3611880"/>
            <a:ext cx="672084" cy="329184"/>
          </a:xfrm>
          <a:prstGeom prst="roundRect">
            <a:avLst>
              <a:gd name="adj" fmla="val 35000"/>
            </a:avLst>
          </a:prstGeom>
          <a:solidFill>
            <a:srgbClr val="E8F6FA"/>
          </a:solidFill>
          <a:ln w="1016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96312" y="3611880"/>
            <a:ext cx="6720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08FAD"/>
                </a:solidFill>
                <a:latin typeface="Segoe UI"/>
              </a:rPr>
              <a:t>NumPy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6412" y="3611880"/>
            <a:ext cx="1700784" cy="329184"/>
          </a:xfrm>
          <a:prstGeom prst="roundRect">
            <a:avLst>
              <a:gd name="adj" fmla="val 35000"/>
            </a:avLst>
          </a:prstGeom>
          <a:solidFill>
            <a:srgbClr val="E8F6FA"/>
          </a:solidFill>
          <a:ln w="1016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6412" y="3611880"/>
            <a:ext cx="17007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08FAD"/>
                </a:solidFill>
                <a:latin typeface="Segoe UI"/>
              </a:rPr>
              <a:t>Matplotlib / Seaborn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25212" y="3611880"/>
            <a:ext cx="672084" cy="329184"/>
          </a:xfrm>
          <a:prstGeom prst="roundRect">
            <a:avLst>
              <a:gd name="adj" fmla="val 35000"/>
            </a:avLst>
          </a:prstGeom>
          <a:solidFill>
            <a:srgbClr val="E8F6FA"/>
          </a:solidFill>
          <a:ln w="1016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5212" y="3611880"/>
            <a:ext cx="6720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08FAD"/>
                </a:solidFill>
                <a:latin typeface="Segoe UI"/>
              </a:rPr>
              <a:t>MySQL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25312" y="3611880"/>
            <a:ext cx="2729484" cy="329184"/>
          </a:xfrm>
          <a:prstGeom prst="roundRect">
            <a:avLst>
              <a:gd name="adj" fmla="val 35000"/>
            </a:avLst>
          </a:prstGeom>
          <a:solidFill>
            <a:srgbClr val="E8F6FA"/>
          </a:solidFill>
          <a:ln w="1016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25312" y="3611880"/>
            <a:ext cx="27294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08FAD"/>
                </a:solidFill>
                <a:latin typeface="Segoe UI"/>
              </a:rPr>
              <a:t>SQL (CTEs · Windows · NTILE · RANK)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82812" y="3611880"/>
            <a:ext cx="877824" cy="329184"/>
          </a:xfrm>
          <a:prstGeom prst="roundRect">
            <a:avLst>
              <a:gd name="adj" fmla="val 35000"/>
            </a:avLst>
          </a:prstGeom>
          <a:solidFill>
            <a:srgbClr val="E8F6FA"/>
          </a:solidFill>
          <a:ln w="1016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82812" y="3611880"/>
            <a:ext cx="8778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08FAD"/>
                </a:solidFill>
                <a:latin typeface="Segoe UI"/>
              </a:rPr>
              <a:t>Power BI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8952" y="4114800"/>
            <a:ext cx="1463040" cy="329184"/>
          </a:xfrm>
          <a:prstGeom prst="roundRect">
            <a:avLst>
              <a:gd name="adj" fmla="val 35000"/>
            </a:avLst>
          </a:prstGeom>
          <a:solidFill>
            <a:srgbClr val="EAF7EF"/>
          </a:solidFill>
          <a:ln w="1016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8952" y="4114800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7AE60"/>
                </a:solidFill>
                <a:latin typeface="Segoe UI"/>
              </a:rPr>
              <a:t>4 notebooks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50008" y="4114800"/>
            <a:ext cx="1371600" cy="329184"/>
          </a:xfrm>
          <a:prstGeom prst="roundRect">
            <a:avLst>
              <a:gd name="adj" fmla="val 35000"/>
            </a:avLst>
          </a:prstGeom>
          <a:solidFill>
            <a:srgbClr val="EFE9F9"/>
          </a:solidFill>
          <a:ln w="10160">
            <a:solidFill>
              <a:srgbClr val="7C5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50008" y="4114800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7C5CBF"/>
                </a:solidFill>
                <a:latin typeface="Segoe UI"/>
              </a:rPr>
              <a:t>3 SQL scripts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849624" y="4114800"/>
            <a:ext cx="1554480" cy="329184"/>
          </a:xfrm>
          <a:prstGeom prst="roundRect">
            <a:avLst>
              <a:gd name="adj" fmla="val 35000"/>
            </a:avLst>
          </a:prstGeom>
          <a:solidFill>
            <a:srgbClr val="E8F6FA"/>
          </a:solidFill>
          <a:ln w="1016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9624" y="4114800"/>
            <a:ext cx="1554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08FAD"/>
                </a:solidFill>
                <a:latin typeface="Segoe UI"/>
              </a:rPr>
              <a:t>3 BI dashboards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525780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4A5A6E"/>
                </a:solidFill>
                <a:latin typeface="Segoe UI"/>
              </a:rPr>
              <a:t>“Each stage converts raw customer records into progressively more decision-ready information.”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09" y="274320"/>
            <a:ext cx="1495265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8FAD"/>
                </a:solidFill>
                <a:latin typeface="Segoe UI"/>
              </a:rPr>
              <a:t>OVERALL CHURN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2A47"/>
                </a:solidFill>
                <a:latin typeface="Segoe UI"/>
              </a:rPr>
              <a:t>1 in 6 customers has churned — but the risk is not evenly distributed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777240" cy="4572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8A97A8"/>
                </a:solidFill>
                <a:latin typeface="Segoe UI"/>
              </a:rPr>
              <a:t>Source: Customer Churn &amp; Retention Analytics | Python + MySQL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5105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8A97A8"/>
                </a:solidFill>
                <a:latin typeface="Segoe UI"/>
              </a:rPr>
              <a:t>CHURNLENS  ·  </a:t>
            </a:r>
            <a:r>
              <a:rPr sz="800" b="1" i="0">
                <a:solidFill>
                  <a:srgbClr val="008FAD"/>
                </a:solidFill>
                <a:latin typeface="Segoe UI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722376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8-30 2011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700140"/>
            <a:ext cx="7077455" cy="396063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955280" y="1417320"/>
            <a:ext cx="373349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508760"/>
            <a:ext cx="50292" cy="65836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527048"/>
            <a:ext cx="34591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A97A8"/>
                </a:solidFill>
                <a:latin typeface="Segoe UI"/>
              </a:rPr>
              <a:t>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746504"/>
            <a:ext cx="3459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2A47"/>
                </a:solidFill>
                <a:latin typeface="Segoe UI"/>
              </a:rPr>
              <a:t>5,630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377440"/>
            <a:ext cx="373349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2468880"/>
            <a:ext cx="50292" cy="65836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487168"/>
            <a:ext cx="34591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A97A8"/>
                </a:solidFill>
                <a:latin typeface="Segoe UI"/>
              </a:rPr>
              <a:t>RETAINED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06624"/>
            <a:ext cx="3459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  <a:latin typeface="Segoe UI"/>
              </a:rPr>
              <a:t>4,682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3337560"/>
            <a:ext cx="373349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80" y="3429000"/>
            <a:ext cx="50292" cy="658368"/>
          </a:xfrm>
          <a:prstGeom prst="rect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3447288"/>
            <a:ext cx="34591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A97A8"/>
                </a:solidFill>
                <a:latin typeface="Segoe UI"/>
              </a:rPr>
              <a:t>CHURNED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666744"/>
            <a:ext cx="3459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6493A"/>
                </a:solidFill>
                <a:latin typeface="Segoe UI"/>
              </a:rPr>
              <a:t>948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0" y="4297680"/>
            <a:ext cx="373349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80" y="4389120"/>
            <a:ext cx="50292" cy="658368"/>
          </a:xfrm>
          <a:prstGeom prst="rect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4407408"/>
            <a:ext cx="34591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A97A8"/>
                </a:solidFill>
                <a:latin typeface="Segoe UI"/>
              </a:rPr>
              <a:t>CHURN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626864"/>
            <a:ext cx="3459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6493A"/>
                </a:solidFill>
                <a:latin typeface="Segoe UI"/>
              </a:rPr>
              <a:t>16.84%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0" y="5285232"/>
            <a:ext cx="3733495" cy="658368"/>
          </a:xfrm>
          <a:prstGeom prst="roundRect">
            <a:avLst>
              <a:gd name="adj" fmla="val 6000"/>
            </a:avLst>
          </a:prstGeom>
          <a:solidFill>
            <a:srgbClr val="FDF1EF"/>
          </a:solidFill>
          <a:ln w="12700">
            <a:solidFill>
              <a:srgbClr val="D64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5285232"/>
            <a:ext cx="34591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C3A2E"/>
                </a:solidFill>
                <a:latin typeface="Segoe UI"/>
              </a:rPr>
              <a:t>Aggregate churn is meaningful — but alone it does not show where retention intervention should begin.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09" y="274320"/>
            <a:ext cx="1495265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8FAD"/>
                </a:solidFill>
                <a:latin typeface="Segoe UI"/>
              </a:rPr>
              <a:t>CHURN DRIVER · CUSTOMER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E2A47"/>
                </a:solidFill>
                <a:latin typeface="Segoe UI"/>
              </a:rPr>
              <a:t>Early lifecycle is the strongest visible churn-risk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777240" cy="4572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8A97A8"/>
                </a:solidFill>
                <a:latin typeface="Segoe UI"/>
              </a:rPr>
              <a:t>Source: Customer Churn &amp; Retention Analytics | Python + MySQL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5105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8A97A8"/>
                </a:solidFill>
                <a:latin typeface="Segoe UI"/>
              </a:rPr>
              <a:t>CHURNLENS  ·  </a:t>
            </a:r>
            <a:r>
              <a:rPr sz="800" b="1" i="0">
                <a:solidFill>
                  <a:srgbClr val="008FAD"/>
                </a:solidFill>
                <a:latin typeface="Segoe U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90372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hort_churn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565473"/>
            <a:ext cx="6757416" cy="390993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635240" y="1417320"/>
            <a:ext cx="4053535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19" y="1536192"/>
            <a:ext cx="3687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97A8"/>
                </a:solidFill>
                <a:latin typeface="Segoe UI"/>
              </a:rPr>
              <a:t>NEW (0–3 MONTHS)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19" y="1810512"/>
            <a:ext cx="3687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D6493A"/>
                </a:solidFill>
                <a:latin typeface="Segoe UI"/>
              </a:rPr>
              <a:t>41.86%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19" y="2395728"/>
            <a:ext cx="3687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Segoe UI"/>
              </a:rPr>
              <a:t>653 of 948 churned customers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926080"/>
            <a:ext cx="4053535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9831" y="3017520"/>
            <a:ext cx="37243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Segoe UI"/>
              </a:rPr>
              <a:t>Later stages stay below 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3346704"/>
            <a:ext cx="1371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Growing (4–6m)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53144" y="3364992"/>
            <a:ext cx="1822399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53144" y="3364992"/>
            <a:ext cx="302113" cy="14630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30407" y="334670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7.46%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1544" y="3632454"/>
            <a:ext cx="1371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Established (7–12m)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53144" y="3650742"/>
            <a:ext cx="1822399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53144" y="3650742"/>
            <a:ext cx="398902" cy="14630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30407" y="363245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9.85%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1544" y="3918204"/>
            <a:ext cx="1371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Mature (13–24m)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53144" y="3936491"/>
            <a:ext cx="1822399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53144" y="3936491"/>
            <a:ext cx="262425" cy="14630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30407" y="391820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6.48%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1544" y="4203954"/>
            <a:ext cx="1371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Loyal (25m+)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53144" y="4222242"/>
            <a:ext cx="1822399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53144" y="4222242"/>
            <a:ext cx="27432" cy="14630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30407" y="420395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4754880"/>
            <a:ext cx="4053535" cy="1188720"/>
          </a:xfrm>
          <a:prstGeom prst="roundRect">
            <a:avLst>
              <a:gd name="adj" fmla="val 6000"/>
            </a:avLst>
          </a:prstGeom>
          <a:solidFill>
            <a:srgbClr val="E8F6FA"/>
          </a:solidFill>
          <a:ln w="1270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99831" y="4864608"/>
            <a:ext cx="3724351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0B5E73"/>
                </a:solidFill>
                <a:latin typeface="Segoe UI"/>
              </a:rPr>
              <a:t>The first 3 months represent the highest observed churn-risk stage — onboarding is the priority retention window. Retention recovers to 92.54% at Growing and 100% at Loyal.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09" y="274320"/>
            <a:ext cx="1495265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8FAD"/>
                </a:solidFill>
                <a:latin typeface="Segoe UI"/>
              </a:rPr>
              <a:t>CHURN DRIVER · CUSTOMER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E2A47"/>
                </a:solidFill>
                <a:latin typeface="Segoe UI"/>
              </a:rPr>
              <a:t>Complaint behavior is strongly associated with churn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777240" cy="4572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8A97A8"/>
                </a:solidFill>
                <a:latin typeface="Segoe UI"/>
              </a:rPr>
              <a:t>Source: Customer Churn &amp; Retention Analytics | Python + MySQL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5105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8A97A8"/>
                </a:solidFill>
                <a:latin typeface="Segoe UI"/>
              </a:rPr>
              <a:t>CHURNLENS  ·  </a:t>
            </a:r>
            <a:r>
              <a:rPr sz="800" b="1" i="0">
                <a:solidFill>
                  <a:srgbClr val="008FAD"/>
                </a:solidFill>
                <a:latin typeface="Segoe U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675120" cy="397763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mplaint_vs_churn_high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71" y="1490472"/>
            <a:ext cx="6450016" cy="383133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06640" y="1417320"/>
            <a:ext cx="4282135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1508760"/>
            <a:ext cx="50292" cy="731520"/>
          </a:xfrm>
          <a:prstGeom prst="rect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19" y="1527048"/>
            <a:ext cx="40078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A97A8"/>
                </a:solidFill>
                <a:latin typeface="Segoe UI"/>
              </a:rPr>
              <a:t>COMPLAINT CHURN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1746504"/>
            <a:ext cx="40078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6493A"/>
                </a:solidFill>
                <a:latin typeface="Segoe UI"/>
              </a:rPr>
              <a:t>31.67%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450592"/>
            <a:ext cx="4282135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2542032"/>
            <a:ext cx="50292" cy="7315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19" y="2560320"/>
            <a:ext cx="40078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A97A8"/>
                </a:solidFill>
                <a:latin typeface="Segoe UI"/>
              </a:rPr>
              <a:t>NO-COMPLAINT CHURN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19" y="2779776"/>
            <a:ext cx="40078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7AE60"/>
                </a:solidFill>
                <a:latin typeface="Segoe UI"/>
              </a:rPr>
              <a:t>10.93%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493008"/>
            <a:ext cx="4282135" cy="566928"/>
          </a:xfrm>
          <a:prstGeom prst="roundRect">
            <a:avLst>
              <a:gd name="adj" fmla="val 6000"/>
            </a:avLst>
          </a:prstGeom>
          <a:solidFill>
            <a:srgbClr val="FDF4E7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3493008"/>
            <a:ext cx="42821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9A5410"/>
                </a:solidFill>
                <a:latin typeface="Segoe UI"/>
              </a:rPr>
              <a:t>≈2.9× higher observed churn with complaints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4187952"/>
            <a:ext cx="4282135" cy="329184"/>
          </a:xfrm>
          <a:prstGeom prst="roundRect">
            <a:avLst>
              <a:gd name="adj" fmla="val 10000"/>
            </a:avLst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4187952"/>
            <a:ext cx="428213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COMPLAINT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9465411" y="4521708"/>
            <a:ext cx="164592" cy="118872"/>
          </a:xfrm>
          <a:prstGeom prst="down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4645152"/>
            <a:ext cx="4282135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4645152"/>
            <a:ext cx="428213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08FAD"/>
                </a:solidFill>
                <a:latin typeface="Segoe UI"/>
              </a:rPr>
              <a:t>SERVICE RECOVERY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465411" y="4978908"/>
            <a:ext cx="164592" cy="118872"/>
          </a:xfrm>
          <a:prstGeom prst="down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06640" y="5102352"/>
            <a:ext cx="4282135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5102352"/>
            <a:ext cx="428213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08FAD"/>
                </a:solidFill>
                <a:latin typeface="Segoe UI"/>
              </a:rPr>
              <a:t>FOLLOW-UP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9465411" y="5436108"/>
            <a:ext cx="164592" cy="118872"/>
          </a:xfrm>
          <a:prstGeom prst="down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06640" y="5559552"/>
            <a:ext cx="4282135" cy="329184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5559552"/>
            <a:ext cx="428213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6053328"/>
            <a:ext cx="4282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7A8"/>
                </a:solidFill>
                <a:latin typeface="Segoe UI"/>
              </a:rPr>
              <a:t>Association, not causation.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09" y="274320"/>
            <a:ext cx="1495265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8FAD"/>
                </a:solidFill>
                <a:latin typeface="Segoe UI"/>
              </a:rPr>
              <a:t>OTHER CHURN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E2A47"/>
                </a:solidFill>
                <a:latin typeface="Segoe UI"/>
              </a:rPr>
              <a:t>Churn risk varies across behavior and preference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777240" cy="4572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8A97A8"/>
                </a:solidFill>
                <a:latin typeface="Segoe UI"/>
              </a:rPr>
              <a:t>Source: Customer Churn &amp; Retention Analytics | Python + MySQL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5105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8A97A8"/>
                </a:solidFill>
                <a:latin typeface="Segoe UI"/>
              </a:rPr>
              <a:t>CHURNLENS  ·  </a:t>
            </a:r>
            <a:r>
              <a:rPr sz="800" b="1" i="0">
                <a:solidFill>
                  <a:srgbClr val="008FAD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478627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08760"/>
            <a:ext cx="5149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Segoe UI"/>
              </a:rPr>
              <a:t>Preferred payment mode — churn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837944"/>
            <a:ext cx="1234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Cash on Delivery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83664" y="1856232"/>
            <a:ext cx="338465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83664" y="1856232"/>
            <a:ext cx="3022010" cy="146304"/>
          </a:xfrm>
          <a:prstGeom prst="rect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3179" y="183794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2104644"/>
            <a:ext cx="1234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E wallet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83664" y="2122932"/>
            <a:ext cx="338465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83664" y="2122932"/>
            <a:ext cx="2756073" cy="146304"/>
          </a:xfrm>
          <a:prstGeom prst="rect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3179" y="210464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22.8%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2371344"/>
            <a:ext cx="1234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CC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83664" y="2389632"/>
            <a:ext cx="338465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83664" y="2389632"/>
            <a:ext cx="2611016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23179" y="237134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21.6%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2638044"/>
            <a:ext cx="1234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UPI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83664" y="2656332"/>
            <a:ext cx="338465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83664" y="2656332"/>
            <a:ext cx="2103319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23179" y="263804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17.4%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2904744"/>
            <a:ext cx="1234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Debit Card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83664" y="2923032"/>
            <a:ext cx="338465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83664" y="2923032"/>
            <a:ext cx="1849470" cy="14630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23179" y="290474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15.3%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3171444"/>
            <a:ext cx="1234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Credit Card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83664" y="3189732"/>
            <a:ext cx="338465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83664" y="3189732"/>
            <a:ext cx="1559357" cy="14630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23179" y="317144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12.9%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0147" y="1417320"/>
            <a:ext cx="5478627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4739" y="1508760"/>
            <a:ext cx="5149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Segoe UI"/>
              </a:rPr>
              <a:t>Preferred order category — churn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6451" y="1837944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Mobile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3771" y="1856232"/>
            <a:ext cx="320177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3771" y="1856232"/>
            <a:ext cx="2924284" cy="146304"/>
          </a:xfrm>
          <a:prstGeom prst="rect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30407" y="183794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27.4%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6451" y="2157984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Fashion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3771" y="2176272"/>
            <a:ext cx="320177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3771" y="2176272"/>
            <a:ext cx="1654248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30407" y="215798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15.5%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6451" y="2478024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Laptop &amp; Accessory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3771" y="2496312"/>
            <a:ext cx="320177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3771" y="2496312"/>
            <a:ext cx="1088602" cy="14630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30407" y="247802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10.2%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6451" y="2798064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Others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3771" y="2816352"/>
            <a:ext cx="320177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73771" y="2816352"/>
            <a:ext cx="811115" cy="14630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30407" y="279806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7.6%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6451" y="3118104"/>
            <a:ext cx="1417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Grocery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3771" y="3136392"/>
            <a:ext cx="320177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73771" y="3136392"/>
            <a:ext cx="522956" cy="14630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030407" y="311810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4.9%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3749039"/>
            <a:ext cx="5478627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" y="3840479"/>
            <a:ext cx="5149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Segoe UI"/>
              </a:rPr>
              <a:t>Satisfaction score — churn % (non-monotonic)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" y="4169663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Score 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72184" y="4187951"/>
            <a:ext cx="379613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472184" y="4187951"/>
            <a:ext cx="1679058" cy="14630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23179" y="4169663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11.5%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" y="4434840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Score 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72184" y="4453127"/>
            <a:ext cx="379613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472184" y="4453127"/>
            <a:ext cx="1839663" cy="14630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23179" y="4434840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12.6%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224" y="4700016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Score 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72184" y="4718303"/>
            <a:ext cx="379613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472184" y="4718303"/>
            <a:ext cx="2511287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23179" y="4700016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17.2%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224" y="4965192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Score 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472184" y="4983479"/>
            <a:ext cx="379613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472184" y="4983479"/>
            <a:ext cx="2496686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23179" y="4965192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17.1%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224" y="5230367"/>
            <a:ext cx="8229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Score 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472184" y="5248655"/>
            <a:ext cx="379613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472184" y="5248655"/>
            <a:ext cx="3474920" cy="146304"/>
          </a:xfrm>
          <a:prstGeom prst="rect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23179" y="5230367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23.8%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210147" y="3749039"/>
            <a:ext cx="5478627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74739" y="3840479"/>
            <a:ext cx="5149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Segoe UI"/>
              </a:rPr>
              <a:t>Login device &amp; demographics — churn 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56451" y="4169663"/>
            <a:ext cx="1371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Phone login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28051" y="4187951"/>
            <a:ext cx="324749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8051" y="4187951"/>
            <a:ext cx="2508407" cy="146304"/>
          </a:xfrm>
          <a:prstGeom prst="rect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030407" y="4169663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22.4%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56451" y="4434840"/>
            <a:ext cx="1371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Computer login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728051" y="4453127"/>
            <a:ext cx="324749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8051" y="4453127"/>
            <a:ext cx="2217252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030407" y="4434840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19.8%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56451" y="4700016"/>
            <a:ext cx="1371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Mobile Phone login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728051" y="4718303"/>
            <a:ext cx="324749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728051" y="4718303"/>
            <a:ext cx="1410979" cy="14630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030407" y="4700016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12.6%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56451" y="4965192"/>
            <a:ext cx="1371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Single (marital)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728051" y="4983479"/>
            <a:ext cx="324749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728051" y="4983479"/>
            <a:ext cx="2989931" cy="146304"/>
          </a:xfrm>
          <a:prstGeom prst="rect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030407" y="4965192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26.7%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56451" y="5230367"/>
            <a:ext cx="1371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City Tier 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728051" y="5248655"/>
            <a:ext cx="324749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28051" y="5248655"/>
            <a:ext cx="2396424" cy="146304"/>
          </a:xfrm>
          <a:prstGeom prst="rect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030407" y="5230367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21.4%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02920" y="580644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4A5A6E"/>
                </a:solidFill>
                <a:latin typeface="Segoe UI"/>
              </a:rPr>
              <a:t>Strongest numerical associations with churn:  </a:t>
            </a:r>
            <a:r>
              <a:rPr sz="950" b="1" i="0">
                <a:solidFill>
                  <a:srgbClr val="008FAD"/>
                </a:solidFill>
                <a:latin typeface="Segoe UI"/>
              </a:rPr>
              <a:t>Tenure −0.34   ·   DaySinceLastOrder −0.16   ·   CashbackAmount −0.15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09" y="274320"/>
            <a:ext cx="1495265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8FAD"/>
                </a:solidFill>
                <a:latin typeface="Segoe UI"/>
              </a:rPr>
              <a:t>CUSTOMER VALUE &amp; RISK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Segoe UI"/>
              </a:rPr>
              <a:t>Customer value changes the priority of churn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777240" cy="4572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8A97A8"/>
                </a:solidFill>
                <a:latin typeface="Segoe UI"/>
              </a:rPr>
              <a:t>Source: Customer Churn &amp; Retention Analytics | Python + MySQL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5105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8A97A8"/>
                </a:solidFill>
                <a:latin typeface="Segoe UI"/>
              </a:rPr>
              <a:t>CHURNLENS  ·  </a:t>
            </a:r>
            <a:r>
              <a:rPr sz="800" b="1" i="0">
                <a:solidFill>
                  <a:srgbClr val="008FAD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478627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08760"/>
            <a:ext cx="5149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Segoe UI"/>
              </a:rPr>
              <a:t>Value quartiles (NTILE on value proxy) — churn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837944"/>
            <a:ext cx="10515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Q1 · lowest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00784" y="1856232"/>
            <a:ext cx="356753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00784" y="1856232"/>
            <a:ext cx="3194214" cy="146304"/>
          </a:xfrm>
          <a:prstGeom prst="rect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3179" y="183794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25.07%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2215134"/>
            <a:ext cx="10515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Q2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00784" y="2233422"/>
            <a:ext cx="356753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00784" y="2233422"/>
            <a:ext cx="2525302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3179" y="221513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19.82%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2592324"/>
            <a:ext cx="10515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Q3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00784" y="2610612"/>
            <a:ext cx="356753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00784" y="2610612"/>
            <a:ext cx="1466510" cy="14630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23179" y="259232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11.51%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2969514"/>
            <a:ext cx="10515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Q4 · highest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00784" y="2987802"/>
            <a:ext cx="356753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00784" y="2987802"/>
            <a:ext cx="1395159" cy="14630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23179" y="296951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10.95%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0147" y="1417320"/>
            <a:ext cx="5478627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4739" y="1508760"/>
            <a:ext cx="51494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Segoe UI"/>
              </a:rPr>
              <a:t>RFM segments — churn % (notebook output)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6451" y="1837944"/>
            <a:ext cx="1371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Loyal Customers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28051" y="1856232"/>
            <a:ext cx="324749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28051" y="1856232"/>
            <a:ext cx="2515182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30407" y="183794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15.49%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6451" y="2215134"/>
            <a:ext cx="1371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Potential Loyalists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28051" y="2233422"/>
            <a:ext cx="324749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28051" y="2233422"/>
            <a:ext cx="2662943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30407" y="221513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16.4%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6451" y="2592324"/>
            <a:ext cx="1371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At Risk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28051" y="2610612"/>
            <a:ext cx="324749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28051" y="2610612"/>
            <a:ext cx="2867535" cy="146304"/>
          </a:xfrm>
          <a:prstGeom prst="rect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30407" y="259232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17.66%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6451" y="2969514"/>
            <a:ext cx="1371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A5A6E"/>
                </a:solidFill>
                <a:latin typeface="Segoe UI"/>
              </a:rPr>
              <a:t>Lost Customers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28051" y="2987802"/>
            <a:ext cx="3247491" cy="146304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28051" y="2987802"/>
            <a:ext cx="2469717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30407" y="2969514"/>
            <a:ext cx="5669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E2A47"/>
                </a:solidFill>
                <a:latin typeface="Segoe UI"/>
              </a:rPr>
              <a:t>15.21%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7307" y="3218688"/>
            <a:ext cx="547862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8A97A8"/>
                </a:solidFill>
                <a:latin typeface="Segoe UI"/>
              </a:rPr>
              <a:t>Champions segment = 0 customers in this dataset.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3794760"/>
            <a:ext cx="2673019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2920" y="3794760"/>
            <a:ext cx="2673019" cy="420624"/>
          </a:xfrm>
          <a:prstGeom prst="roundRect">
            <a:avLst>
              <a:gd name="adj" fmla="val 5000"/>
            </a:avLst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7784" y="3794760"/>
            <a:ext cx="25632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HIGH VALUE + HIGH RISK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4343400"/>
            <a:ext cx="24901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E2A47"/>
                </a:solidFill>
                <a:latin typeface="Segoe UI"/>
              </a:rPr>
              <a:t>PRIORITY RETENTION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" y="4983480"/>
            <a:ext cx="24535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 i="0">
                <a:solidFill>
                  <a:srgbClr val="4A5A6E"/>
                </a:solidFill>
                <a:latin typeface="Segoe UI"/>
              </a:rPr>
              <a:t>Proactive, human-led saves for exposed high-value customers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40531" y="3794760"/>
            <a:ext cx="2673019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340531" y="3794760"/>
            <a:ext cx="2673019" cy="420624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95395" y="3794760"/>
            <a:ext cx="25632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HIGH VALUE + LOW RISK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31971" y="4343400"/>
            <a:ext cx="24901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E2A47"/>
                </a:solidFill>
                <a:latin typeface="Segoe UI"/>
              </a:rPr>
              <a:t>LOYALTY / PROTECTION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50259" y="4983480"/>
            <a:ext cx="24535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 i="0">
                <a:solidFill>
                  <a:srgbClr val="4A5A6E"/>
                </a:solidFill>
                <a:latin typeface="Segoe UI"/>
              </a:rPr>
              <a:t>Milestone rewards to keep strong relationships strong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8143" y="3794760"/>
            <a:ext cx="2673019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178143" y="3794760"/>
            <a:ext cx="2673019" cy="420624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33007" y="3794760"/>
            <a:ext cx="25632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LOW VALUE + HIGH RISK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9583" y="4343400"/>
            <a:ext cx="24901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E2A47"/>
                </a:solidFill>
                <a:latin typeface="Segoe UI"/>
              </a:rPr>
              <a:t>AUTOMATED / LOW-COST RETENTION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87871" y="4983480"/>
            <a:ext cx="24535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 i="0">
                <a:solidFill>
                  <a:srgbClr val="4A5A6E"/>
                </a:solidFill>
                <a:latin typeface="Segoe UI"/>
              </a:rPr>
              <a:t>Trigger-based offers and digital nudges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15755" y="3794760"/>
            <a:ext cx="2673019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015755" y="3794760"/>
            <a:ext cx="2673019" cy="420624"/>
          </a:xfrm>
          <a:prstGeom prst="roundRect">
            <a:avLst>
              <a:gd name="adj" fmla="val 5000"/>
            </a:avLst>
          </a:prstGeom>
          <a:solidFill>
            <a:srgbClr val="008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70619" y="3794760"/>
            <a:ext cx="25632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LOW VALUE + LOW RISK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07195" y="4343400"/>
            <a:ext cx="24901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E2A47"/>
                </a:solidFill>
                <a:latin typeface="Segoe UI"/>
              </a:rPr>
              <a:t>STANDARD ENGAGEMENT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25483" y="4983480"/>
            <a:ext cx="24535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60" b="0" i="0">
                <a:solidFill>
                  <a:srgbClr val="4A5A6E"/>
                </a:solidFill>
                <a:latin typeface="Segoe UI"/>
              </a:rPr>
              <a:t>Business-as-usual communication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610819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4A5A6E"/>
                </a:solidFill>
                <a:latin typeface="Segoe UI"/>
              </a:rPr>
              <a:t>Retention priority should consider both churn probability and customer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09" y="274320"/>
            <a:ext cx="1495265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8FAD"/>
                </a:solidFill>
                <a:latin typeface="Segoe UI"/>
              </a:rPr>
              <a:t>BUSINESS IMPACT · VALUE AT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E2A47"/>
                </a:solidFill>
                <a:latin typeface="Segoe UI"/>
              </a:rPr>
              <a:t>Churn converts into measurable customer-value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777240" cy="4572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8A97A8"/>
                </a:solidFill>
                <a:latin typeface="Segoe UI"/>
              </a:rPr>
              <a:t>Source: Customer Churn &amp; Retention Analytics | Python + MySQL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5105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8A97A8"/>
                </a:solidFill>
                <a:latin typeface="Segoe UI"/>
              </a:rPr>
              <a:t>CHURNLENS  ·  </a:t>
            </a:r>
            <a:r>
              <a:rPr sz="800" b="1" i="0">
                <a:solidFill>
                  <a:srgbClr val="008FAD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461772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50292" cy="71323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27048"/>
            <a:ext cx="4343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A97A8"/>
                </a:solidFill>
                <a:latin typeface="Segoe UI"/>
              </a:rPr>
              <a:t>TOTAL CUSTOMER-VALUE PROXY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46504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2A47"/>
                </a:solidFill>
                <a:latin typeface="Segoe UI"/>
              </a:rPr>
              <a:t>₹997.77K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32304"/>
            <a:ext cx="461772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50292" cy="713232"/>
          </a:xfrm>
          <a:prstGeom prst="rect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42032"/>
            <a:ext cx="4343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A97A8"/>
                </a:solidFill>
                <a:latin typeface="Segoe UI"/>
              </a:rPr>
              <a:t>VALUE ASSOCIATED WITH CHURN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61488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6493A"/>
                </a:solidFill>
                <a:latin typeface="Segoe UI"/>
              </a:rPr>
              <a:t>₹152.03K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54096"/>
            <a:ext cx="4343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Segoe UI"/>
              </a:rPr>
              <a:t>15.24% of proxy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47288"/>
            <a:ext cx="2226564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538728"/>
            <a:ext cx="50292" cy="71323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57016"/>
            <a:ext cx="19522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A97A8"/>
                </a:solidFill>
                <a:latin typeface="Segoe UI"/>
              </a:rPr>
              <a:t>5% CHURN REDUCTION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776472"/>
            <a:ext cx="19522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7AE60"/>
                </a:solidFill>
                <a:latin typeface="Segoe UI"/>
              </a:rPr>
              <a:t>₹7.60K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69080"/>
            <a:ext cx="19522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Segoe UI"/>
              </a:rPr>
              <a:t>potential protected 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94076" y="3447288"/>
            <a:ext cx="2226564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4076" y="3538728"/>
            <a:ext cx="50292" cy="71323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76956" y="3557016"/>
            <a:ext cx="19522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8A97A8"/>
                </a:solidFill>
                <a:latin typeface="Segoe UI"/>
              </a:rPr>
              <a:t>10% CHURN REDUCTION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6956" y="3776472"/>
            <a:ext cx="19522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7AE60"/>
                </a:solidFill>
                <a:latin typeface="Segoe UI"/>
              </a:rPr>
              <a:t>₹15.20K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6956" y="4069080"/>
            <a:ext cx="19522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5A6E"/>
                </a:solidFill>
                <a:latin typeface="Segoe UI"/>
              </a:rPr>
              <a:t>potential protected value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498848"/>
            <a:ext cx="4617720" cy="310896"/>
          </a:xfrm>
          <a:prstGeom prst="roundRect">
            <a:avLst>
              <a:gd name="adj" fmla="val 10000"/>
            </a:avLst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498848"/>
            <a:ext cx="4617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CUSTOMER CHURN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2738628" y="4814316"/>
            <a:ext cx="146304" cy="109728"/>
          </a:xfrm>
          <a:prstGeom prst="down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4919472"/>
            <a:ext cx="4617720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64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4617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D6493A"/>
                </a:solidFill>
                <a:latin typeface="Segoe UI"/>
              </a:rPr>
              <a:t>CHURNED CUSTOMER VALUE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2738628" y="5234940"/>
            <a:ext cx="146304" cy="109728"/>
          </a:xfrm>
          <a:prstGeom prst="down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5340096"/>
            <a:ext cx="4617720" cy="3108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64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340096"/>
            <a:ext cx="4617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D6493A"/>
                </a:solidFill>
                <a:latin typeface="Segoe UI"/>
              </a:rPr>
              <a:t>VALUE AT RISK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2738628" y="5655564"/>
            <a:ext cx="146304" cy="109728"/>
          </a:xfrm>
          <a:prstGeom prst="down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2920" y="5760720"/>
            <a:ext cx="4617720" cy="310896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760720"/>
            <a:ext cx="4617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RETENTION OPPORTUNITY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217920"/>
            <a:ext cx="4983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8A97A8"/>
                </a:solidFill>
                <a:latin typeface="Segoe UI"/>
              </a:rPr>
              <a:t>Figures are CashbackAmount-derived customer-value proxy — not actual revenue.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94959" y="1417320"/>
            <a:ext cx="6293815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creenshot 2026-08-30 2010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926907"/>
            <a:ext cx="6147511" cy="35071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394959" y="6053328"/>
            <a:ext cx="6293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19" b="0" i="0">
                <a:solidFill>
                  <a:srgbClr val="4A5A6E"/>
                </a:solidFill>
                <a:latin typeface="Segoe UI"/>
              </a:rPr>
              <a:t>Value at risk by lifecycle: New ₹101.64K · Established ₹23.6K · Mature ₹18.59K · Growing ₹8.2K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09" y="274320"/>
            <a:ext cx="1495265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8FAD"/>
                </a:solidFill>
                <a:latin typeface="Segoe UI"/>
              </a:rPr>
              <a:t>PRIORITIZATION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2A47"/>
                </a:solidFill>
                <a:latin typeface="Segoe UI"/>
              </a:rPr>
              <a:t>Retention investment should start where risk and exposure overlap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777240" cy="4572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8A97A8"/>
                </a:solidFill>
                <a:latin typeface="Segoe UI"/>
              </a:rPr>
              <a:t>Source: Customer Churn &amp; Retention Analytics | Python + MySQL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5105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8A97A8"/>
                </a:solidFill>
                <a:latin typeface="Segoe UI"/>
              </a:rPr>
              <a:t>CHURNLENS  ·  </a:t>
            </a:r>
            <a:r>
              <a:rPr sz="800" b="1" i="0">
                <a:solidFill>
                  <a:srgbClr val="008FAD"/>
                </a:solidFill>
                <a:latin typeface="Segoe U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11185855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91056"/>
            <a:ext cx="64008" cy="768096"/>
          </a:xfrm>
          <a:prstGeom prst="rect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1700784"/>
            <a:ext cx="548640" cy="548640"/>
          </a:xfrm>
          <a:prstGeom prst="ellipse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007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609344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2A47"/>
                </a:solidFill>
                <a:latin typeface="Segoe UI"/>
              </a:rPr>
              <a:t>New customers · 0–3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02996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Segoe UI"/>
              </a:rPr>
              <a:t>Highest lifecycle churn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59" y="1700784"/>
            <a:ext cx="5333695" cy="548640"/>
          </a:xfrm>
          <a:prstGeom prst="roundRect">
            <a:avLst>
              <a:gd name="adj" fmla="val 8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700784"/>
            <a:ext cx="5059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8A97A8"/>
                </a:solidFill>
                <a:latin typeface="Segoe UI"/>
              </a:rPr>
              <a:t>EVIDENCE   </a:t>
            </a:r>
            <a:r>
              <a:rPr sz="950" b="1" i="0">
                <a:solidFill>
                  <a:srgbClr val="16324F"/>
                </a:solidFill>
                <a:latin typeface="Segoe UI"/>
              </a:rPr>
              <a:t>41.86% churn · 653 of 948 churned · ₹101.64K value at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96896"/>
            <a:ext cx="11185855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724912"/>
            <a:ext cx="64008" cy="768096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2834639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834639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743200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2A47"/>
                </a:solidFill>
                <a:latin typeface="Segoe UI"/>
              </a:rPr>
              <a:t>Customers with complaints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16382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Segoe UI"/>
              </a:rPr>
              <a:t>High observed churn association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59" y="2834639"/>
            <a:ext cx="5333695" cy="548640"/>
          </a:xfrm>
          <a:prstGeom prst="roundRect">
            <a:avLst>
              <a:gd name="adj" fmla="val 8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834639"/>
            <a:ext cx="5059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8A97A8"/>
                </a:solidFill>
                <a:latin typeface="Segoe UI"/>
              </a:rPr>
              <a:t>EVIDENCE   </a:t>
            </a:r>
            <a:r>
              <a:rPr sz="950" b="1" i="0">
                <a:solidFill>
                  <a:srgbClr val="16324F"/>
                </a:solidFill>
                <a:latin typeface="Segoe UI"/>
              </a:rPr>
              <a:t>31.67% vs 10.93% churn (≈2.9×)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730752"/>
            <a:ext cx="11185855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858768"/>
            <a:ext cx="64008" cy="768096"/>
          </a:xfrm>
          <a:prstGeom prst="rect">
            <a:avLst/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3968496"/>
            <a:ext cx="548640" cy="548640"/>
          </a:xfrm>
          <a:prstGeom prst="ellipse">
            <a:avLst/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96849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877056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2A47"/>
                </a:solidFill>
                <a:latin typeface="Segoe UI"/>
              </a:rPr>
              <a:t>At-Risk / Lost value segments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2976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Segoe UI"/>
              </a:rPr>
              <a:t>Higher observed churn rates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59" y="3968496"/>
            <a:ext cx="5333695" cy="548640"/>
          </a:xfrm>
          <a:prstGeom prst="roundRect">
            <a:avLst>
              <a:gd name="adj" fmla="val 8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968496"/>
            <a:ext cx="5059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8A97A8"/>
                </a:solidFill>
                <a:latin typeface="Segoe UI"/>
              </a:rPr>
              <a:t>EVIDENCE   </a:t>
            </a:r>
            <a:r>
              <a:rPr sz="950" b="1" i="0">
                <a:solidFill>
                  <a:srgbClr val="16324F"/>
                </a:solidFill>
                <a:latin typeface="Segoe UI"/>
              </a:rPr>
              <a:t>17.66% / 15.21% RFM churn · critical-risk pool at 60.2%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864608"/>
            <a:ext cx="11185855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992624"/>
            <a:ext cx="64008" cy="768096"/>
          </a:xfrm>
          <a:prstGeom prst="rect">
            <a:avLst/>
          </a:prstGeom>
          <a:solidFill>
            <a:srgbClr val="008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7240" y="5102352"/>
            <a:ext cx="548640" cy="548640"/>
          </a:xfrm>
          <a:prstGeom prst="ellipse">
            <a:avLst/>
          </a:prstGeom>
          <a:solidFill>
            <a:srgbClr val="008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10235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010912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2A47"/>
                </a:solidFill>
                <a:latin typeface="Segoe UI"/>
              </a:rPr>
              <a:t>Growing / mid-tenure customers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43153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Segoe UI"/>
              </a:rPr>
              <a:t>Prevent migration into high-risk states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80759" y="5102352"/>
            <a:ext cx="5333695" cy="548640"/>
          </a:xfrm>
          <a:prstGeom prst="roundRect">
            <a:avLst>
              <a:gd name="adj" fmla="val 8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5102352"/>
            <a:ext cx="5059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8A97A8"/>
                </a:solidFill>
                <a:latin typeface="Segoe UI"/>
              </a:rPr>
              <a:t>EVIDENCE   </a:t>
            </a:r>
            <a:r>
              <a:rPr sz="950" b="1" i="0">
                <a:solidFill>
                  <a:srgbClr val="16324F"/>
                </a:solidFill>
                <a:latin typeface="Segoe UI"/>
              </a:rPr>
              <a:t>7.46% today · retention dip −2.39pp at Established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14476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8A97A8"/>
                </a:solidFill>
                <a:latin typeface="Segoe UI"/>
              </a:rPr>
              <a:t>Priorities use observed associations from the analysis — no ROI claims are made.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09" y="274320"/>
            <a:ext cx="1495265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8FAD"/>
                </a:solidFill>
                <a:latin typeface="Segoe UI"/>
              </a:rPr>
              <a:t>RETENTION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2A47"/>
                </a:solidFill>
                <a:latin typeface="Segoe UI"/>
              </a:rPr>
              <a:t>Three targeted interventions address the strongest observed risk signals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777240" cy="4572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8A97A8"/>
                </a:solidFill>
                <a:latin typeface="Segoe UI"/>
              </a:rPr>
              <a:t>Source: Customer Churn &amp; Retention Analytics | Python + MySQL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5105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8A97A8"/>
                </a:solidFill>
                <a:latin typeface="Segoe UI"/>
              </a:rPr>
              <a:t>CHURNLENS  ·  </a:t>
            </a:r>
            <a:r>
              <a:rPr sz="800" b="1" i="0">
                <a:solidFill>
                  <a:srgbClr val="008FAD"/>
                </a:solidFill>
                <a:latin typeface="Segoe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576218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3576218" cy="685800"/>
          </a:xfrm>
          <a:prstGeom prst="roundRect">
            <a:avLst>
              <a:gd name="adj" fmla="val 5000"/>
            </a:avLst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1790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63040"/>
            <a:ext cx="2570378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EARLY 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377440"/>
            <a:ext cx="317388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6493A"/>
                </a:solidFill>
                <a:latin typeface="Segoe UI"/>
              </a:rPr>
              <a:t>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596896"/>
            <a:ext cx="317388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0E2A47"/>
                </a:solidFill>
                <a:latin typeface="Segoe UI"/>
              </a:rPr>
              <a:t>New customers (0–3 months)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456432"/>
            <a:ext cx="317388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6493A"/>
                </a:solidFill>
                <a:latin typeface="Segoe UI"/>
              </a:rPr>
              <a:t>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675888"/>
            <a:ext cx="317388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5A6E"/>
                </a:solidFill>
                <a:latin typeface="Segoe UI"/>
              </a:rPr>
              <a:t>Highest lifecycle churn risk (41.86%)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535424"/>
            <a:ext cx="317388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D6493A"/>
                </a:solidFill>
                <a:latin typeface="Segoe UI"/>
              </a:rPr>
              <a:t>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754880"/>
            <a:ext cx="317388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16324F"/>
                </a:solidFill>
                <a:latin typeface="Segoe UI"/>
              </a:rPr>
              <a:t>30-day onboarding journey + first-order engagement / cashback intervention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7738" y="1463040"/>
            <a:ext cx="3576218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07738" y="1463040"/>
            <a:ext cx="3576218" cy="68580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0618" y="151790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6418" y="1463040"/>
            <a:ext cx="2570378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COMPLAINT FAST-TRACK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8906" y="2377440"/>
            <a:ext cx="317388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E67E22"/>
                </a:solidFill>
                <a:latin typeface="Segoe UI"/>
              </a:rPr>
              <a:t>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8906" y="2596896"/>
            <a:ext cx="317388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0E2A47"/>
                </a:solidFill>
                <a:latin typeface="Segoe UI"/>
              </a:rPr>
              <a:t>Customers who complain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8906" y="3456432"/>
            <a:ext cx="317388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E67E22"/>
                </a:solidFill>
                <a:latin typeface="Segoe UI"/>
              </a:rPr>
              <a:t>FINDING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8906" y="3675888"/>
            <a:ext cx="317388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5A6E"/>
                </a:solidFill>
                <a:latin typeface="Segoe UI"/>
              </a:rPr>
              <a:t>Complaint behavior strongly associated with churn (31.67% vs 10.93%)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8906" y="4535424"/>
            <a:ext cx="317388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E67E22"/>
                </a:solidFill>
                <a:latin typeface="Segoe UI"/>
              </a:rPr>
              <a:t>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8906" y="4754880"/>
            <a:ext cx="317388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16324F"/>
                </a:solidFill>
                <a:latin typeface="Segoe UI"/>
              </a:rPr>
              <a:t>Priority resolution + follow-up after resolution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2556" y="1463040"/>
            <a:ext cx="3576218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12556" y="1463040"/>
            <a:ext cx="3576218" cy="68580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5436" y="151790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1236" y="1463040"/>
            <a:ext cx="2570378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LOYALTY / MILESTONE ENGAGEMENT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3724" y="2377440"/>
            <a:ext cx="317388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27AE60"/>
                </a:solidFill>
                <a:latin typeface="Segoe UI"/>
              </a:rPr>
              <a:t>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3724" y="2596896"/>
            <a:ext cx="317388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0E2A47"/>
                </a:solidFill>
                <a:latin typeface="Segoe UI"/>
              </a:rPr>
              <a:t>Growing / mid-tenure customers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3724" y="3456432"/>
            <a:ext cx="317388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27AE60"/>
                </a:solidFill>
                <a:latin typeface="Segoe UI"/>
              </a:rPr>
              <a:t>FINDING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3724" y="3675888"/>
            <a:ext cx="317388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5A6E"/>
                </a:solidFill>
                <a:latin typeface="Segoe UI"/>
              </a:rPr>
              <a:t>Retention opportunity before customers enter higher-risk states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3724" y="4535424"/>
            <a:ext cx="317388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27AE60"/>
                </a:solidFill>
                <a:latin typeface="Segoe UI"/>
              </a:rPr>
              <a:t>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3724" y="4754880"/>
            <a:ext cx="317388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16324F"/>
                </a:solidFill>
                <a:latin typeface="Segoe UI"/>
              </a:rPr>
              <a:t>6-month and 12-month milestone rewards / engagement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98932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8A97A8"/>
                </a:solidFill>
                <a:latin typeface="Segoe UI"/>
              </a:rPr>
              <a:t>Interventions target observed risk signals; outcomes should be measured against pre-intervention churn.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09" y="274320"/>
            <a:ext cx="1495265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8FAD"/>
                </a:solidFill>
                <a:latin typeface="Segoe UI"/>
              </a:rPr>
              <a:t>MANAGEMENT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E2A47"/>
                </a:solidFill>
                <a:latin typeface="Segoe UI"/>
              </a:rPr>
              <a:t>Turn the analysis into an operating retention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777240" cy="4572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8A97A8"/>
                </a:solidFill>
                <a:latin typeface="Segoe UI"/>
              </a:rPr>
              <a:t>Source: Customer Churn &amp; Retention Analytics | Python + MySQL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5105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8A97A8"/>
                </a:solidFill>
                <a:latin typeface="Segoe UI"/>
              </a:rPr>
              <a:t>CHURNLENS  ·  </a:t>
            </a:r>
            <a:r>
              <a:rPr sz="800" b="1" i="0">
                <a:solidFill>
                  <a:srgbClr val="008FAD"/>
                </a:solidFill>
                <a:latin typeface="Segoe U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576218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3576218" cy="502920"/>
          </a:xfrm>
          <a:prstGeom prst="roundRect">
            <a:avLst>
              <a:gd name="adj" fmla="val 5000"/>
            </a:avLst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357621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0–30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94560"/>
            <a:ext cx="3173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6493A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4A5A6E"/>
                </a:solidFill>
                <a:latin typeface="Segoe UI"/>
              </a:rPr>
              <a:t>Identify new-customer risk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761488"/>
            <a:ext cx="3173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6493A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4A5A6E"/>
                </a:solidFill>
                <a:latin typeface="Segoe UI"/>
              </a:rPr>
              <a:t>Establish complaint fast-track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328416"/>
            <a:ext cx="3173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D6493A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4A5A6E"/>
                </a:solidFill>
                <a:latin typeface="Segoe UI"/>
              </a:rPr>
              <a:t>Create churn-risk monitoring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7738" y="1463040"/>
            <a:ext cx="3576218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07738" y="1463040"/>
            <a:ext cx="3576218" cy="502920"/>
          </a:xfrm>
          <a:prstGeom prst="roundRect">
            <a:avLst>
              <a:gd name="adj" fmla="val 5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7738" y="1463040"/>
            <a:ext cx="357621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31–60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8906" y="2194560"/>
            <a:ext cx="3173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4A5A6E"/>
                </a:solidFill>
                <a:latin typeface="Segoe UI"/>
              </a:rPr>
              <a:t>Launch onboarding intervention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8906" y="2761488"/>
            <a:ext cx="3173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4A5A6E"/>
                </a:solidFill>
                <a:latin typeface="Segoe UI"/>
              </a:rPr>
              <a:t>Introduce service-recovery follow-up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8906" y="3328416"/>
            <a:ext cx="3173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4A5A6E"/>
                </a:solidFill>
                <a:latin typeface="Segoe UI"/>
              </a:rPr>
              <a:t>Monitor high-risk customer segments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2556" y="1463040"/>
            <a:ext cx="3576218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12556" y="1463040"/>
            <a:ext cx="3576218" cy="50292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2556" y="1463040"/>
            <a:ext cx="357621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61–90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3724" y="2194560"/>
            <a:ext cx="3173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4A5A6E"/>
                </a:solidFill>
                <a:latin typeface="Segoe UI"/>
              </a:rPr>
              <a:t>Evaluate retention outcomes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3724" y="2761488"/>
            <a:ext cx="3173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4A5A6E"/>
                </a:solidFill>
                <a:latin typeface="Segoe UI"/>
              </a:rPr>
              <a:t>Compare churn before / after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3724" y="3328416"/>
            <a:ext cx="3173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4A5A6E"/>
                </a:solidFill>
                <a:latin typeface="Segoe UI"/>
              </a:rPr>
              <a:t>Refine customer segments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3724" y="3895344"/>
            <a:ext cx="3173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4A5A6E"/>
                </a:solidFill>
                <a:latin typeface="Segoe UI"/>
              </a:rPr>
              <a:t>Scale successful interventions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75488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2A47"/>
                </a:solidFill>
                <a:latin typeface="Segoe UI"/>
              </a:rPr>
              <a:t>KPIs TO MONITOR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120640"/>
            <a:ext cx="1742389" cy="384048"/>
          </a:xfrm>
          <a:prstGeom prst="roundRect">
            <a:avLst>
              <a:gd name="adj" fmla="val 35000"/>
            </a:avLst>
          </a:prstGeom>
          <a:solidFill>
            <a:srgbClr val="E8F6FA"/>
          </a:solidFill>
          <a:ln w="1016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120640"/>
            <a:ext cx="174238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08FAD"/>
                </a:solidFill>
                <a:latin typeface="Segoe UI"/>
              </a:rPr>
              <a:t>Churn 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91613" y="5120640"/>
            <a:ext cx="1742389" cy="384048"/>
          </a:xfrm>
          <a:prstGeom prst="roundRect">
            <a:avLst>
              <a:gd name="adj" fmla="val 35000"/>
            </a:avLst>
          </a:prstGeom>
          <a:solidFill>
            <a:srgbClr val="E8F6FA"/>
          </a:solidFill>
          <a:ln w="1016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91613" y="5120640"/>
            <a:ext cx="174238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08FAD"/>
                </a:solidFill>
                <a:latin typeface="Segoe UI"/>
              </a:rPr>
              <a:t>Retention Rate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80306" y="5120640"/>
            <a:ext cx="1742389" cy="384048"/>
          </a:xfrm>
          <a:prstGeom prst="roundRect">
            <a:avLst>
              <a:gd name="adj" fmla="val 35000"/>
            </a:avLst>
          </a:prstGeom>
          <a:solidFill>
            <a:srgbClr val="E8F6FA"/>
          </a:solidFill>
          <a:ln w="1016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80306" y="5120640"/>
            <a:ext cx="174238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08FAD"/>
                </a:solidFill>
                <a:latin typeface="Segoe UI"/>
              </a:rPr>
              <a:t>Complaint Churn 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68999" y="5120640"/>
            <a:ext cx="1742389" cy="384048"/>
          </a:xfrm>
          <a:prstGeom prst="roundRect">
            <a:avLst>
              <a:gd name="adj" fmla="val 35000"/>
            </a:avLst>
          </a:prstGeom>
          <a:solidFill>
            <a:srgbClr val="E8F6FA"/>
          </a:solidFill>
          <a:ln w="1016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68999" y="5120640"/>
            <a:ext cx="174238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08FAD"/>
                </a:solidFill>
                <a:latin typeface="Segoe UI"/>
              </a:rPr>
              <a:t>New-Customer Churn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57692" y="5120640"/>
            <a:ext cx="1742389" cy="384048"/>
          </a:xfrm>
          <a:prstGeom prst="roundRect">
            <a:avLst>
              <a:gd name="adj" fmla="val 35000"/>
            </a:avLst>
          </a:prstGeom>
          <a:solidFill>
            <a:srgbClr val="E8F6FA"/>
          </a:solidFill>
          <a:ln w="1016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57692" y="5120640"/>
            <a:ext cx="174238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08FAD"/>
                </a:solidFill>
                <a:latin typeface="Segoe UI"/>
              </a:rPr>
              <a:t>At-Risk Customer Count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46386" y="5120640"/>
            <a:ext cx="1742389" cy="384048"/>
          </a:xfrm>
          <a:prstGeom prst="roundRect">
            <a:avLst>
              <a:gd name="adj" fmla="val 35000"/>
            </a:avLst>
          </a:prstGeom>
          <a:solidFill>
            <a:srgbClr val="E8F6FA"/>
          </a:solidFill>
          <a:ln w="1016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46386" y="5120640"/>
            <a:ext cx="174238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008FAD"/>
                </a:solidFill>
                <a:latin typeface="Segoe UI"/>
              </a:rPr>
              <a:t>Customer-Value Exposure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76072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8A97A8"/>
                </a:solidFill>
                <a:latin typeface="Segoe UI"/>
              </a:rPr>
              <a:t>Review cadence: monthly retention review with Customer Success, CRM &amp; Marketing.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09" y="274320"/>
            <a:ext cx="1495265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8FAD"/>
                </a:solidFill>
                <a:latin typeface="Segoe UI"/>
              </a:rPr>
              <a:t>EXECUTIVE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Segoe UI"/>
              </a:rPr>
              <a:t>Four takeaways for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777240" cy="4572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8A97A8"/>
                </a:solidFill>
                <a:latin typeface="Segoe UI"/>
              </a:rPr>
              <a:t>Source: Customer Churn &amp; Retention Analytics | Python + MySQL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5105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8A97A8"/>
                </a:solidFill>
                <a:latin typeface="Segoe UI"/>
              </a:rPr>
              <a:t>CHURNLENS  ·  </a:t>
            </a:r>
            <a:r>
              <a:rPr sz="800" b="1" i="0">
                <a:solidFill>
                  <a:srgbClr val="008FAD"/>
                </a:solidFill>
                <a:latin typeface="Segoe U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2645587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22798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D6493A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286000"/>
            <a:ext cx="23164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E2A47"/>
                </a:solidFill>
                <a:latin typeface="Segoe UI"/>
              </a:rPr>
              <a:t>CHURN IS CONCENTRATED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54680"/>
            <a:ext cx="22798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A5A6E"/>
                </a:solidFill>
                <a:latin typeface="Segoe UI"/>
              </a:rPr>
              <a:t>Early-lifecycle customers show disproportionately high churn (41.86% at 0–3m).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24528"/>
            <a:ext cx="2645587" cy="91440"/>
          </a:xfrm>
          <a:prstGeom prst="rect">
            <a:avLst/>
          </a:prstGeom>
          <a:solidFill>
            <a:srgbClr val="D64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49675" y="1481328"/>
            <a:ext cx="2645587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2555" y="1645920"/>
            <a:ext cx="22798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67E22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4267" y="2286000"/>
            <a:ext cx="23164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E2A47"/>
                </a:solidFill>
                <a:latin typeface="Segoe UI"/>
              </a:rPr>
              <a:t>CUSTOMER EXPERIENCE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2555" y="3154680"/>
            <a:ext cx="22798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A5A6E"/>
                </a:solidFill>
                <a:latin typeface="Segoe UI"/>
              </a:rPr>
              <a:t>Complaint behavior is strongly associated with higher churn (31.67% vs 10.93%).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49675" y="4224528"/>
            <a:ext cx="2645587" cy="914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96431" y="1481328"/>
            <a:ext cx="2645587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9311" y="1645920"/>
            <a:ext cx="22798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7C5CBF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1023" y="2286000"/>
            <a:ext cx="23164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E2A47"/>
                </a:solidFill>
                <a:latin typeface="Segoe UI"/>
              </a:rPr>
              <a:t>VALUE CHANGES 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9311" y="3154680"/>
            <a:ext cx="22798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A5A6E"/>
                </a:solidFill>
                <a:latin typeface="Segoe UI"/>
              </a:rPr>
              <a:t>High-risk customer segments require value-aware retention decisions.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6431" y="4224528"/>
            <a:ext cx="2645587" cy="91440"/>
          </a:xfrm>
          <a:prstGeom prst="rect">
            <a:avLst/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43187" y="1481328"/>
            <a:ext cx="2645587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6067" y="1645920"/>
            <a:ext cx="22798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7AE60"/>
                </a:solidFill>
                <a:latin typeface="Segoe U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7779" y="2286000"/>
            <a:ext cx="23164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E2A47"/>
                </a:solidFill>
                <a:latin typeface="Segoe UI"/>
              </a:rPr>
              <a:t>RETENTION HAS A MEASURABLE BUSINESS CASE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067" y="3154680"/>
            <a:ext cx="22798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4A5A6E"/>
                </a:solidFill>
                <a:latin typeface="Segoe UI"/>
              </a:rPr>
              <a:t>Reducing churn can protect part of the ₹152.03K customer-value exposure.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43187" y="4224528"/>
            <a:ext cx="2645587" cy="914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4709160"/>
            <a:ext cx="11185855" cy="868680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709160"/>
            <a:ext cx="111858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0A8CC"/>
                </a:solidFill>
                <a:latin typeface="Segoe UI"/>
              </a:rPr>
              <a:t>RECOMMENDED FOCUS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074920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Prevent early churn   →   resolve complaints faster   →   protect high-risk customer value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09" y="274320"/>
            <a:ext cx="1495265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8FAD"/>
                </a:solidFill>
                <a:latin typeface="Segoe UI"/>
              </a:rPr>
              <a:t>TECHNICAL 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Segoe UI"/>
              </a:rPr>
              <a:t>Technical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777240" cy="4572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8A97A8"/>
                </a:solidFill>
                <a:latin typeface="Segoe UI"/>
              </a:rPr>
              <a:t>Source: Customer Churn &amp; Retention Analytics | Python + MySQL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5105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8A97A8"/>
                </a:solidFill>
                <a:latin typeface="Segoe UI"/>
              </a:rPr>
              <a:t>CHURNLENS  ·  </a:t>
            </a:r>
            <a:r>
              <a:rPr sz="800" b="1" i="0">
                <a:solidFill>
                  <a:srgbClr val="008FAD"/>
                </a:solidFill>
                <a:latin typeface="Segoe U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576218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3576218" cy="457200"/>
          </a:xfrm>
          <a:prstGeom prst="roundRect">
            <a:avLst>
              <a:gd name="adj" fmla="val 5000"/>
            </a:avLst>
          </a:prstGeom>
          <a:solidFill>
            <a:srgbClr val="008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357621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03120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08FAD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Pandas · NumPy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414015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08FAD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Data cleaning &amp; imputation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724911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08FAD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EDA &amp; statistical exploration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035807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08FAD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Feature transformation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346703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08FAD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RFM &amp; cohort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94759"/>
            <a:ext cx="3210458" cy="960120"/>
          </a:xfrm>
          <a:prstGeom prst="roundRect">
            <a:avLst>
              <a:gd name="adj" fmla="val 5000"/>
            </a:avLst>
          </a:prstGeom>
          <a:solidFill>
            <a:srgbClr val="0B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886199"/>
            <a:ext cx="299100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7FDBF2"/>
                </a:solidFill>
                <a:latin typeface="Consolas"/>
              </a:rPr>
              <a:t>df.isnull().sum()</a:t>
            </a:r>
          </a:p>
          <a:p>
            <a:r>
              <a:rPr sz="800">
                <a:solidFill>
                  <a:srgbClr val="7FDBF2"/>
                </a:solidFill>
                <a:latin typeface="Consolas"/>
              </a:rPr>
              <a:t>df.duplicated().sum()</a:t>
            </a:r>
          </a:p>
          <a:p>
            <a:r>
              <a:rPr sz="800">
                <a:solidFill>
                  <a:srgbClr val="7FDBF2"/>
                </a:solidFill>
                <a:latin typeface="Consolas"/>
              </a:rPr>
              <a:t>df['OrderCount'].fillna(median)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7738" y="1463040"/>
            <a:ext cx="3576218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07738" y="1463040"/>
            <a:ext cx="3576218" cy="457200"/>
          </a:xfrm>
          <a:prstGeom prst="roundRect">
            <a:avLst>
              <a:gd name="adj" fmla="val 5000"/>
            </a:avLst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07738" y="1463040"/>
            <a:ext cx="357621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SQL · MySQL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8906" y="2103120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5CBF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Aggregations &amp; CASE WHEN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8906" y="2414015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5CBF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CTEs &amp; subqueries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8906" y="2724911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5CBF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JOINs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8906" y="3035807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5CBF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Window functions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8906" y="3346703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7C5CBF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RANK · NTILE · LAG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90618" y="3794759"/>
            <a:ext cx="3210458" cy="960120"/>
          </a:xfrm>
          <a:prstGeom prst="roundRect">
            <a:avLst>
              <a:gd name="adj" fmla="val 5000"/>
            </a:avLst>
          </a:prstGeom>
          <a:solidFill>
            <a:srgbClr val="0B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0346" y="3886199"/>
            <a:ext cx="299100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7FDBF2"/>
                </a:solidFill>
                <a:latin typeface="Consolas"/>
              </a:rPr>
              <a:t>NTILE(4) OVER (</a:t>
            </a:r>
          </a:p>
          <a:p>
            <a:r>
              <a:rPr sz="800">
                <a:solidFill>
                  <a:srgbClr val="7FDBF2"/>
                </a:solidFill>
                <a:latin typeface="Consolas"/>
              </a:rPr>
              <a:t>  ORDER BY CashbackAmount)</a:t>
            </a:r>
          </a:p>
          <a:p>
            <a:r>
              <a:rPr sz="800">
                <a:solidFill>
                  <a:srgbClr val="7FDBF2"/>
                </a:solidFill>
                <a:latin typeface="Consolas"/>
              </a:rPr>
              <a:t>RANK() OVER (ORDER BY</a:t>
            </a:r>
          </a:p>
          <a:p>
            <a:r>
              <a:rPr sz="800">
                <a:solidFill>
                  <a:srgbClr val="7FDBF2"/>
                </a:solidFill>
                <a:latin typeface="Consolas"/>
              </a:rPr>
              <a:t>  CashbackAmount DESC)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2556" y="1463040"/>
            <a:ext cx="3576218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12556" y="1463040"/>
            <a:ext cx="3576218" cy="457200"/>
          </a:xfrm>
          <a:prstGeom prst="roundRect">
            <a:avLst>
              <a:gd name="adj" fmla="val 5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2556" y="1463040"/>
            <a:ext cx="357621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BI · POWER 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3724" y="2103120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Interactive dashboards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3724" y="2414015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KPI reporting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3724" y="2724911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Segmentation views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3724" y="3035807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  <a:latin typeface="Segoe UI"/>
              </a:rPr>
              <a:t>•  </a:t>
            </a:r>
            <a:r>
              <a:rPr sz="950" b="0" i="0">
                <a:solidFill>
                  <a:srgbClr val="4A5A6E"/>
                </a:solidFill>
                <a:latin typeface="Segoe UI"/>
              </a:rPr>
              <a:t>Business storytelling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95436" y="3483863"/>
            <a:ext cx="3210458" cy="960120"/>
          </a:xfrm>
          <a:prstGeom prst="roundRect">
            <a:avLst>
              <a:gd name="adj" fmla="val 5000"/>
            </a:avLst>
          </a:prstGeom>
          <a:solidFill>
            <a:srgbClr val="0B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05164" y="3575303"/>
            <a:ext cx="299100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7FDBF2"/>
                </a:solidFill>
                <a:latin typeface="Consolas"/>
              </a:rPr>
              <a:t>3 pages: Overview · Drivers ·</a:t>
            </a:r>
          </a:p>
          <a:p>
            <a:r>
              <a:rPr sz="800">
                <a:solidFill>
                  <a:srgbClr val="7FDBF2"/>
                </a:solidFill>
                <a:latin typeface="Consolas"/>
              </a:rPr>
              <a:t>Revenue 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03504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8A97A8"/>
                </a:solidFill>
                <a:latin typeface="Segoe UI"/>
              </a:rPr>
              <a:t>Analysis developed using Python, MySQL and Power BI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09" y="274320"/>
            <a:ext cx="1495265" cy="530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8FAD"/>
                </a:solidFill>
                <a:latin typeface="Segoe UI"/>
              </a:rPr>
              <a:t>PROJECT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9418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Segoe UI"/>
              </a:rPr>
              <a:t>End-to-end analytical ownership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777240" cy="45720"/>
          </a:xfrm>
          <a:prstGeom prst="rect">
            <a:avLst/>
          </a:prstGeom>
          <a:solidFill>
            <a:srgbClr val="00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8A97A8"/>
                </a:solidFill>
                <a:latin typeface="Segoe UI"/>
              </a:rPr>
              <a:t>Source: Customer Churn &amp; Retention Analytics | Python + MySQL +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7095" y="65105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8A97A8"/>
                </a:solidFill>
                <a:latin typeface="Segoe UI"/>
              </a:rPr>
              <a:t>CHURNLENS  ·  </a:t>
            </a:r>
            <a:r>
              <a:rPr sz="800" b="1" i="0">
                <a:solidFill>
                  <a:srgbClr val="008FAD"/>
                </a:solidFill>
                <a:latin typeface="Segoe U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77440"/>
            <a:ext cx="1254213" cy="105156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2377440"/>
            <a:ext cx="1181061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RAW EXCEL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770849" y="2788920"/>
            <a:ext cx="137160" cy="182880"/>
          </a:xfrm>
          <a:prstGeom prst="right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21725" y="2377440"/>
            <a:ext cx="1254213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58301" y="2377440"/>
            <a:ext cx="1181061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008FAD"/>
                </a:solidFill>
                <a:latin typeface="Segoe UI"/>
              </a:rPr>
              <a:t>PYTHON DATA PREPARATION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89655" y="2788920"/>
            <a:ext cx="137160" cy="182880"/>
          </a:xfrm>
          <a:prstGeom prst="right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40531" y="2377440"/>
            <a:ext cx="1254213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7107" y="2377440"/>
            <a:ext cx="1181061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0E2A47"/>
                </a:solidFill>
                <a:latin typeface="Segoe UI"/>
              </a:rPr>
              <a:t>CLEAN CSV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608461" y="2788920"/>
            <a:ext cx="137160" cy="182880"/>
          </a:xfrm>
          <a:prstGeom prst="right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59337" y="2377440"/>
            <a:ext cx="1254213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5913" y="2377440"/>
            <a:ext cx="1181061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008FAD"/>
                </a:solidFill>
                <a:latin typeface="Segoe UI"/>
              </a:rPr>
              <a:t>MYSQL ANALYTICAL DB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27267" y="2788920"/>
            <a:ext cx="137160" cy="182880"/>
          </a:xfrm>
          <a:prstGeom prst="right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8143" y="2377440"/>
            <a:ext cx="1254213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4719" y="2377440"/>
            <a:ext cx="1181061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008FAD"/>
                </a:solidFill>
                <a:latin typeface="Segoe UI"/>
              </a:rPr>
              <a:t>BUSINESS SQL LAYER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446073" y="2788920"/>
            <a:ext cx="137160" cy="182880"/>
          </a:xfrm>
          <a:prstGeom prst="right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96949" y="2377440"/>
            <a:ext cx="1254213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08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3525" y="2377440"/>
            <a:ext cx="1181061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008FAD"/>
                </a:solidFill>
                <a:latin typeface="Segoe UI"/>
              </a:rPr>
              <a:t>RISK / BUSINESS METRICS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64879" y="2788920"/>
            <a:ext cx="137160" cy="182880"/>
          </a:xfrm>
          <a:prstGeom prst="right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15755" y="2377440"/>
            <a:ext cx="1254213" cy="105156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331" y="2377440"/>
            <a:ext cx="1181061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POWER BI DASHBOARD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283685" y="2788920"/>
            <a:ext cx="137160" cy="182880"/>
          </a:xfrm>
          <a:prstGeom prst="rightArrow">
            <a:avLst/>
          </a:prstGeom>
          <a:solidFill>
            <a:srgbClr val="8A9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434561" y="2377440"/>
            <a:ext cx="1254213" cy="105156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71137" y="2377440"/>
            <a:ext cx="1181061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MANAGEMENT DECISION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977639"/>
            <a:ext cx="3576218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087368"/>
            <a:ext cx="32104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Segoe UI"/>
              </a:rPr>
              <a:t>Ingest &amp; clean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407408"/>
            <a:ext cx="32104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Segoe UI"/>
              </a:rPr>
              <a:t>Python / Pandas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7738" y="3977639"/>
            <a:ext cx="3576218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90618" y="4087368"/>
            <a:ext cx="32104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Segoe UI"/>
              </a:rPr>
              <a:t>Store &amp; query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0618" y="4407408"/>
            <a:ext cx="32104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Segoe UI"/>
              </a:rPr>
              <a:t>MySQL · CTEs · windows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12556" y="3977639"/>
            <a:ext cx="3576218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95436" y="4087368"/>
            <a:ext cx="32104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Segoe UI"/>
              </a:rPr>
              <a:t>Visualize &amp; decide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5436" y="4407408"/>
            <a:ext cx="32104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A5A6E"/>
                </a:solidFill>
                <a:latin typeface="Segoe UI"/>
              </a:rPr>
              <a:t>Power BI · management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25780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4A5A6E"/>
                </a:solidFill>
                <a:latin typeface="Segoe UI"/>
              </a:rPr>
              <a:t>One analyst-owned pipeline: raw records → decision-ready retention intelligence.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80644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08FAD"/>
                </a:solidFill>
                <a:latin typeface="Segoe UI"/>
              </a:rPr>
              <a:t>CHURNLENS  ·  Customer Retention Intelligence  ·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